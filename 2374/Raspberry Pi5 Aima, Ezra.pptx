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261" r:id="rId3"/>
    <p:sldId id="258" r:id="rId4"/>
    <p:sldId id="259" r:id="rId5"/>
    <p:sldId id="260"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to Raspberry Pi 5" id="{960BF3A5-7B73-4BB2-9E7C-DD9DD823F463}">
          <p14:sldIdLst>
            <p14:sldId id="257"/>
            <p14:sldId id="261"/>
            <p14:sldId id="258"/>
            <p14:sldId id="259"/>
            <p14:sldId id="260"/>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EA3374-E926-4B18-9FD6-CDEE45A52D8F}" v="29" dt="2025-10-13T23:09:07.6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63" d="100"/>
          <a:sy n="63" d="100"/>
        </p:scale>
        <p:origin x="1020" y="28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maayaz252006@gmail.com" userId="840138075ea8c5b1" providerId="LiveId" clId="{21DD8A32-6C37-44A3-9A20-EBBADCABD990}"/>
    <pc:docChg chg="custSel addSld delSld modSld sldOrd delSection modSection">
      <pc:chgData name="aimaayaz252006@gmail.com" userId="840138075ea8c5b1" providerId="LiveId" clId="{21DD8A32-6C37-44A3-9A20-EBBADCABD990}" dt="2025-10-13T23:33:15.651" v="133" actId="20577"/>
      <pc:docMkLst>
        <pc:docMk/>
      </pc:docMkLst>
      <pc:sldChg chg="addSp delSp modSp del mod">
        <pc:chgData name="aimaayaz252006@gmail.com" userId="840138075ea8c5b1" providerId="LiveId" clId="{21DD8A32-6C37-44A3-9A20-EBBADCABD990}" dt="2025-10-13T20:42:28.419" v="45" actId="2696"/>
        <pc:sldMkLst>
          <pc:docMk/>
          <pc:sldMk cId="3047883360" sldId="256"/>
        </pc:sldMkLst>
        <pc:spChg chg="del">
          <ac:chgData name="aimaayaz252006@gmail.com" userId="840138075ea8c5b1" providerId="LiveId" clId="{21DD8A32-6C37-44A3-9A20-EBBADCABD990}" dt="2025-10-13T20:41:37.891" v="35" actId="478"/>
          <ac:spMkLst>
            <pc:docMk/>
            <pc:sldMk cId="3047883360" sldId="256"/>
            <ac:spMk id="2" creationId="{642F3679-76AD-92E3-48ED-45FC82BDD613}"/>
          </ac:spMkLst>
        </pc:spChg>
        <pc:spChg chg="del">
          <ac:chgData name="aimaayaz252006@gmail.com" userId="840138075ea8c5b1" providerId="LiveId" clId="{21DD8A32-6C37-44A3-9A20-EBBADCABD990}" dt="2025-10-13T20:41:40.413" v="36" actId="478"/>
          <ac:spMkLst>
            <pc:docMk/>
            <pc:sldMk cId="3047883360" sldId="256"/>
            <ac:spMk id="3" creationId="{5B597110-8F39-69AE-32CE-BBAEA6DC4091}"/>
          </ac:spMkLst>
        </pc:spChg>
        <pc:picChg chg="add del mod">
          <ac:chgData name="aimaayaz252006@gmail.com" userId="840138075ea8c5b1" providerId="LiveId" clId="{21DD8A32-6C37-44A3-9A20-EBBADCABD990}" dt="2025-10-13T20:42:14.089" v="41" actId="478"/>
          <ac:picMkLst>
            <pc:docMk/>
            <pc:sldMk cId="3047883360" sldId="256"/>
            <ac:picMk id="5" creationId="{90B61EF5-C2BA-D0EF-3BC1-67AD347A4CBC}"/>
          </ac:picMkLst>
        </pc:picChg>
      </pc:sldChg>
      <pc:sldChg chg="modSp mod modNotesTx">
        <pc:chgData name="aimaayaz252006@gmail.com" userId="840138075ea8c5b1" providerId="LiveId" clId="{21DD8A32-6C37-44A3-9A20-EBBADCABD990}" dt="2025-10-13T23:33:15.651" v="133" actId="20577"/>
        <pc:sldMkLst>
          <pc:docMk/>
          <pc:sldMk cId="502347809" sldId="257"/>
        </pc:sldMkLst>
        <pc:spChg chg="mod">
          <ac:chgData name="aimaayaz252006@gmail.com" userId="840138075ea8c5b1" providerId="LiveId" clId="{21DD8A32-6C37-44A3-9A20-EBBADCABD990}" dt="2025-10-13T23:33:15.651" v="133" actId="20577"/>
          <ac:spMkLst>
            <pc:docMk/>
            <pc:sldMk cId="502347809" sldId="257"/>
            <ac:spMk id="8" creationId="{2D7C0145-CA0C-4760-307F-5E7D362187AC}"/>
          </ac:spMkLst>
        </pc:spChg>
      </pc:sldChg>
      <pc:sldChg chg="modSp mod">
        <pc:chgData name="aimaayaz252006@gmail.com" userId="840138075ea8c5b1" providerId="LiveId" clId="{21DD8A32-6C37-44A3-9A20-EBBADCABD990}" dt="2025-10-13T20:33:13.259" v="4" actId="12"/>
        <pc:sldMkLst>
          <pc:docMk/>
          <pc:sldMk cId="1735895652" sldId="258"/>
        </pc:sldMkLst>
        <pc:spChg chg="mod">
          <ac:chgData name="aimaayaz252006@gmail.com" userId="840138075ea8c5b1" providerId="LiveId" clId="{21DD8A32-6C37-44A3-9A20-EBBADCABD990}" dt="2025-10-13T20:33:13.259" v="4" actId="12"/>
          <ac:spMkLst>
            <pc:docMk/>
            <pc:sldMk cId="1735895652" sldId="258"/>
            <ac:spMk id="4" creationId="{55056CD0-5486-A871-7DFF-7C54AD705DB0}"/>
          </ac:spMkLst>
        </pc:spChg>
      </pc:sldChg>
      <pc:sldChg chg="modSp mod">
        <pc:chgData name="aimaayaz252006@gmail.com" userId="840138075ea8c5b1" providerId="LiveId" clId="{21DD8A32-6C37-44A3-9A20-EBBADCABD990}" dt="2025-10-13T20:33:28.549" v="9" actId="27636"/>
        <pc:sldMkLst>
          <pc:docMk/>
          <pc:sldMk cId="610724029" sldId="259"/>
        </pc:sldMkLst>
        <pc:spChg chg="mod">
          <ac:chgData name="aimaayaz252006@gmail.com" userId="840138075ea8c5b1" providerId="LiveId" clId="{21DD8A32-6C37-44A3-9A20-EBBADCABD990}" dt="2025-10-13T20:33:28.549" v="9" actId="27636"/>
          <ac:spMkLst>
            <pc:docMk/>
            <pc:sldMk cId="610724029" sldId="259"/>
            <ac:spMk id="4" creationId="{B1907AC2-0655-97BF-070C-4B17393B257A}"/>
          </ac:spMkLst>
        </pc:spChg>
      </pc:sldChg>
      <pc:sldChg chg="modSp mod modNotesTx">
        <pc:chgData name="aimaayaz252006@gmail.com" userId="840138075ea8c5b1" providerId="LiveId" clId="{21DD8A32-6C37-44A3-9A20-EBBADCABD990}" dt="2025-10-13T23:06:41.852" v="116" actId="20577"/>
        <pc:sldMkLst>
          <pc:docMk/>
          <pc:sldMk cId="516447419" sldId="260"/>
        </pc:sldMkLst>
        <pc:spChg chg="mod">
          <ac:chgData name="aimaayaz252006@gmail.com" userId="840138075ea8c5b1" providerId="LiveId" clId="{21DD8A32-6C37-44A3-9A20-EBBADCABD990}" dt="2025-10-13T20:33:42.348" v="19" actId="27636"/>
          <ac:spMkLst>
            <pc:docMk/>
            <pc:sldMk cId="516447419" sldId="260"/>
            <ac:spMk id="4" creationId="{4E1A8CB5-0E98-6D1C-F6CF-BD39DD11127D}"/>
          </ac:spMkLst>
        </pc:spChg>
      </pc:sldChg>
      <pc:sldChg chg="modSp add mod ord modNotesTx">
        <pc:chgData name="aimaayaz252006@gmail.com" userId="840138075ea8c5b1" providerId="LiveId" clId="{21DD8A32-6C37-44A3-9A20-EBBADCABD990}" dt="2025-10-13T22:58:11.117" v="115" actId="20577"/>
        <pc:sldMkLst>
          <pc:docMk/>
          <pc:sldMk cId="3727974782" sldId="261"/>
        </pc:sldMkLst>
        <pc:spChg chg="mod">
          <ac:chgData name="aimaayaz252006@gmail.com" userId="840138075ea8c5b1" providerId="LiveId" clId="{21DD8A32-6C37-44A3-9A20-EBBADCABD990}" dt="2025-10-13T20:38:53.370" v="33" actId="1076"/>
          <ac:spMkLst>
            <pc:docMk/>
            <pc:sldMk cId="3727974782" sldId="261"/>
            <ac:spMk id="2" creationId="{159E5030-3278-0BE3-20AC-F03618EACA74}"/>
          </ac:spMkLst>
        </pc:spChg>
        <pc:spChg chg="mod">
          <ac:chgData name="aimaayaz252006@gmail.com" userId="840138075ea8c5b1" providerId="LiveId" clId="{21DD8A32-6C37-44A3-9A20-EBBADCABD990}" dt="2025-10-13T20:38:57.048" v="34" actId="1076"/>
          <ac:spMkLst>
            <pc:docMk/>
            <pc:sldMk cId="3727974782" sldId="261"/>
            <ac:spMk id="4" creationId="{BF6B7328-B2C8-860A-7912-7BB877DF659C}"/>
          </ac:spMkLst>
        </pc:spChg>
      </pc:sldChg>
      <pc:sldChg chg="modSp add mod ord modNotesTx">
        <pc:chgData name="aimaayaz252006@gmail.com" userId="840138075ea8c5b1" providerId="LiveId" clId="{21DD8A32-6C37-44A3-9A20-EBBADCABD990}" dt="2025-10-13T23:09:06.552" v="117" actId="20577"/>
        <pc:sldMkLst>
          <pc:docMk/>
          <pc:sldMk cId="511059647" sldId="262"/>
        </pc:sldMkLst>
        <pc:spChg chg="mod">
          <ac:chgData name="aimaayaz252006@gmail.com" userId="840138075ea8c5b1" providerId="LiveId" clId="{21DD8A32-6C37-44A3-9A20-EBBADCABD990}" dt="2025-10-13T20:44:25.626" v="62" actId="1076"/>
          <ac:spMkLst>
            <pc:docMk/>
            <pc:sldMk cId="511059647" sldId="262"/>
            <ac:spMk id="2" creationId="{A0B2F478-3E0C-F2D5-F365-DAE0963DB471}"/>
          </ac:spMkLst>
        </pc:spChg>
        <pc:spChg chg="mod">
          <ac:chgData name="aimaayaz252006@gmail.com" userId="840138075ea8c5b1" providerId="LiveId" clId="{21DD8A32-6C37-44A3-9A20-EBBADCABD990}" dt="2025-10-13T20:44:20.916" v="61" actId="1076"/>
          <ac:spMkLst>
            <pc:docMk/>
            <pc:sldMk cId="511059647" sldId="262"/>
            <ac:spMk id="4" creationId="{5B7B2F60-B35E-A4A8-7AD9-C91E6DE3B4A1}"/>
          </ac:spMkLst>
        </pc:spChg>
        <pc:picChg chg="mod">
          <ac:chgData name="aimaayaz252006@gmail.com" userId="840138075ea8c5b1" providerId="LiveId" clId="{21DD8A32-6C37-44A3-9A20-EBBADCABD990}" dt="2025-10-13T20:42:46.171" v="47" actId="14826"/>
          <ac:picMkLst>
            <pc:docMk/>
            <pc:sldMk cId="511059647" sldId="262"/>
            <ac:picMk id="5" creationId="{E9C398ED-358A-31DC-4AC2-92C4BC444314}"/>
          </ac:picMkLst>
        </pc:picChg>
      </pc:sldChg>
      <pc:sldChg chg="addSp delSp modSp add mod modNotesTx">
        <pc:chgData name="aimaayaz252006@gmail.com" userId="840138075ea8c5b1" providerId="LiveId" clId="{21DD8A32-6C37-44A3-9A20-EBBADCABD990}" dt="2025-10-13T23:11:36.297" v="118" actId="20577"/>
        <pc:sldMkLst>
          <pc:docMk/>
          <pc:sldMk cId="3290458512" sldId="263"/>
        </pc:sldMkLst>
        <pc:spChg chg="mod">
          <ac:chgData name="aimaayaz252006@gmail.com" userId="840138075ea8c5b1" providerId="LiveId" clId="{21DD8A32-6C37-44A3-9A20-EBBADCABD990}" dt="2025-10-13T20:46:40.495" v="81" actId="113"/>
          <ac:spMkLst>
            <pc:docMk/>
            <pc:sldMk cId="3290458512" sldId="263"/>
            <ac:spMk id="2" creationId="{417968A9-1C30-BB93-CA18-34E34BCD2723}"/>
          </ac:spMkLst>
        </pc:spChg>
        <pc:spChg chg="add mod">
          <ac:chgData name="aimaayaz252006@gmail.com" userId="840138075ea8c5b1" providerId="LiveId" clId="{21DD8A32-6C37-44A3-9A20-EBBADCABD990}" dt="2025-10-13T20:46:17.502" v="78" actId="14826"/>
          <ac:spMkLst>
            <pc:docMk/>
            <pc:sldMk cId="3290458512" sldId="263"/>
            <ac:spMk id="3" creationId="{125088BB-3124-E673-2122-F407D39B9589}"/>
          </ac:spMkLst>
        </pc:spChg>
        <pc:spChg chg="del mod">
          <ac:chgData name="aimaayaz252006@gmail.com" userId="840138075ea8c5b1" providerId="LiveId" clId="{21DD8A32-6C37-44A3-9A20-EBBADCABD990}" dt="2025-10-13T20:47:08.193" v="84"/>
          <ac:spMkLst>
            <pc:docMk/>
            <pc:sldMk cId="3290458512" sldId="263"/>
            <ac:spMk id="4" creationId="{914CC820-F0A3-3D8C-1834-488BE6D74F6A}"/>
          </ac:spMkLst>
        </pc:spChg>
        <pc:spChg chg="add">
          <ac:chgData name="aimaayaz252006@gmail.com" userId="840138075ea8c5b1" providerId="LiveId" clId="{21DD8A32-6C37-44A3-9A20-EBBADCABD990}" dt="2025-10-13T20:46:59.885" v="82"/>
          <ac:spMkLst>
            <pc:docMk/>
            <pc:sldMk cId="3290458512" sldId="263"/>
            <ac:spMk id="6" creationId="{06DE64AB-B4C2-6E22-F54A-D5302497744B}"/>
          </ac:spMkLst>
        </pc:spChg>
        <pc:spChg chg="add del mod">
          <ac:chgData name="aimaayaz252006@gmail.com" userId="840138075ea8c5b1" providerId="LiveId" clId="{21DD8A32-6C37-44A3-9A20-EBBADCABD990}" dt="2025-10-13T20:47:45.160" v="86" actId="478"/>
          <ac:spMkLst>
            <pc:docMk/>
            <pc:sldMk cId="3290458512" sldId="263"/>
            <ac:spMk id="7" creationId="{8363DA18-C93A-67A7-4777-2BE3A3B65AB4}"/>
          </ac:spMkLst>
        </pc:spChg>
        <pc:spChg chg="add del mod">
          <ac:chgData name="aimaayaz252006@gmail.com" userId="840138075ea8c5b1" providerId="LiveId" clId="{21DD8A32-6C37-44A3-9A20-EBBADCABD990}" dt="2025-10-13T20:48:50.148" v="95"/>
          <ac:spMkLst>
            <pc:docMk/>
            <pc:sldMk cId="3290458512" sldId="263"/>
            <ac:spMk id="8" creationId="{2291DB9F-EB00-DB77-E520-FBA5E2AFF69A}"/>
          </ac:spMkLst>
        </pc:spChg>
        <pc:spChg chg="add">
          <ac:chgData name="aimaayaz252006@gmail.com" userId="840138075ea8c5b1" providerId="LiveId" clId="{21DD8A32-6C37-44A3-9A20-EBBADCABD990}" dt="2025-10-13T20:47:59.766" v="88"/>
          <ac:spMkLst>
            <pc:docMk/>
            <pc:sldMk cId="3290458512" sldId="263"/>
            <ac:spMk id="9" creationId="{DD5F1899-FA86-7345-8CC9-0114F4FFBD84}"/>
          </ac:spMkLst>
        </pc:spChg>
        <pc:spChg chg="add">
          <ac:chgData name="aimaayaz252006@gmail.com" userId="840138075ea8c5b1" providerId="LiveId" clId="{21DD8A32-6C37-44A3-9A20-EBBADCABD990}" dt="2025-10-13T20:48:22.470" v="89"/>
          <ac:spMkLst>
            <pc:docMk/>
            <pc:sldMk cId="3290458512" sldId="263"/>
            <ac:spMk id="11" creationId="{1A182BB5-C736-EFDB-ED76-BB41FEB93408}"/>
          </ac:spMkLst>
        </pc:spChg>
        <pc:spChg chg="add">
          <ac:chgData name="aimaayaz252006@gmail.com" userId="840138075ea8c5b1" providerId="LiveId" clId="{21DD8A32-6C37-44A3-9A20-EBBADCABD990}" dt="2025-10-13T20:48:27.157" v="90"/>
          <ac:spMkLst>
            <pc:docMk/>
            <pc:sldMk cId="3290458512" sldId="263"/>
            <ac:spMk id="12" creationId="{DA6C8C37-F0AA-3188-24D9-DA91014C1808}"/>
          </ac:spMkLst>
        </pc:spChg>
        <pc:spChg chg="add del mod">
          <ac:chgData name="aimaayaz252006@gmail.com" userId="840138075ea8c5b1" providerId="LiveId" clId="{21DD8A32-6C37-44A3-9A20-EBBADCABD990}" dt="2025-10-13T20:48:50.148" v="93" actId="478"/>
          <ac:spMkLst>
            <pc:docMk/>
            <pc:sldMk cId="3290458512" sldId="263"/>
            <ac:spMk id="13" creationId="{8C1E4B8D-7131-F24D-00ED-3537804CC34D}"/>
          </ac:spMkLst>
        </pc:spChg>
        <pc:spChg chg="add mod">
          <ac:chgData name="aimaayaz252006@gmail.com" userId="840138075ea8c5b1" providerId="LiveId" clId="{21DD8A32-6C37-44A3-9A20-EBBADCABD990}" dt="2025-10-13T20:50:14.762" v="111" actId="12"/>
          <ac:spMkLst>
            <pc:docMk/>
            <pc:sldMk cId="3290458512" sldId="263"/>
            <ac:spMk id="14" creationId="{8D2BDA2A-4F2C-AF5C-1B54-19F194C8D46A}"/>
          </ac:spMkLst>
        </pc:spChg>
        <pc:picChg chg="mod">
          <ac:chgData name="aimaayaz252006@gmail.com" userId="840138075ea8c5b1" providerId="LiveId" clId="{21DD8A32-6C37-44A3-9A20-EBBADCABD990}" dt="2025-10-13T20:46:22.942" v="79" actId="14100"/>
          <ac:picMkLst>
            <pc:docMk/>
            <pc:sldMk cId="3290458512" sldId="263"/>
            <ac:picMk id="5" creationId="{6D8D3405-E7A6-D338-6052-15B4A44915AD}"/>
          </ac:picMkLst>
        </pc:picChg>
      </pc:sldChg>
      <pc:sldChg chg="modSp add del mod">
        <pc:chgData name="aimaayaz252006@gmail.com" userId="840138075ea8c5b1" providerId="LiveId" clId="{21DD8A32-6C37-44A3-9A20-EBBADCABD990}" dt="2025-10-13T20:51:48.100" v="114" actId="2696"/>
        <pc:sldMkLst>
          <pc:docMk/>
          <pc:sldMk cId="700273347" sldId="264"/>
        </pc:sldMkLst>
        <pc:spChg chg="mod">
          <ac:chgData name="aimaayaz252006@gmail.com" userId="840138075ea8c5b1" providerId="LiveId" clId="{21DD8A32-6C37-44A3-9A20-EBBADCABD990}" dt="2025-10-13T20:49:47.116" v="105" actId="404"/>
          <ac:spMkLst>
            <pc:docMk/>
            <pc:sldMk cId="700273347" sldId="264"/>
            <ac:spMk id="4" creationId="{EDF63166-3B3C-8C8F-5AF0-5AF452BBB47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BAA5EC-90BC-4EFA-BEDF-F2B05275E3CF}" type="datetimeFigureOut">
              <a:rPr lang="en-US" smtClean="0"/>
              <a:t>10/13/2025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303135-A05E-4594-B55C-924589868AF3}" type="slidenum">
              <a:rPr lang="en-US" smtClean="0"/>
              <a:t>‹#›</a:t>
            </a:fld>
            <a:endParaRPr lang="en-US"/>
          </a:p>
        </p:txBody>
      </p:sp>
    </p:spTree>
    <p:extLst>
      <p:ext uri="{BB962C8B-B14F-4D97-AF65-F5344CB8AC3E}">
        <p14:creationId xmlns:p14="http://schemas.microsoft.com/office/powerpoint/2010/main" val="4211864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Hardware Features of Raspberry Pi 5, Connectivity and Expansion Options, Applications in Edge Computing and Robotics</a:t>
            </a:r>
          </a:p>
        </p:txBody>
      </p:sp>
      <p:sp>
        <p:nvSpPr>
          <p:cNvPr id="4" name="Slide Number Placeholder 3"/>
          <p:cNvSpPr>
            <a:spLocks noGrp="1"/>
          </p:cNvSpPr>
          <p:nvPr>
            <p:ph type="sldNum" sz="quarter" idx="5"/>
          </p:nvPr>
        </p:nvSpPr>
        <p:spPr/>
        <p:txBody>
          <a:bodyPr/>
          <a:lstStyle/>
          <a:p>
            <a:fld id="{3511E8AD-CD66-496F-81D2-79829A498A60}" type="slidenum">
              <a:rPr lang="en-US" smtClean="0"/>
              <a:t>1</a:t>
            </a:fld>
            <a:endParaRPr lang="en-US"/>
          </a:p>
        </p:txBody>
      </p:sp>
    </p:spTree>
    <p:extLst>
      <p:ext uri="{BB962C8B-B14F-4D97-AF65-F5344CB8AC3E}">
        <p14:creationId xmlns:p14="http://schemas.microsoft.com/office/powerpoint/2010/main" val="2605212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F667F-88DB-7C56-BD65-8FF178C40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B617C-C8BE-8A29-F277-A29DD9111D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CB654-65FC-6B57-8CD7-64580899A465}"/>
              </a:ext>
            </a:extLst>
          </p:cNvPr>
          <p:cNvSpPr>
            <a:spLocks noGrp="1"/>
          </p:cNvSpPr>
          <p:nvPr>
            <p:ph type="body" idx="1"/>
          </p:nvPr>
        </p:nvSpPr>
        <p:spPr/>
        <p:txBody>
          <a:bodyPr/>
          <a:lstStyle/>
          <a:p>
            <a:r>
              <a:rPr lang="en-US" dirty="0"/>
              <a:t>The Raspberry Pi 5 marks a significant leap in the evolution of single-board computing. Released in 2023, it empowers developers, educators, and hobbyists with enhanced performance and flexibility for modern applications. Whether you're building smart robots, running edge AI models, or exploring embedded systems, the Pi 5 offers a robust platform for innovation and experimentation.</a:t>
            </a:r>
          </a:p>
        </p:txBody>
      </p:sp>
      <p:sp>
        <p:nvSpPr>
          <p:cNvPr id="4" name="Slide Number Placeholder 3">
            <a:extLst>
              <a:ext uri="{FF2B5EF4-FFF2-40B4-BE49-F238E27FC236}">
                <a16:creationId xmlns:a16="http://schemas.microsoft.com/office/drawing/2014/main" id="{26EE5C28-380D-A433-B72B-8B5AF0858F96}"/>
              </a:ext>
            </a:extLst>
          </p:cNvPr>
          <p:cNvSpPr>
            <a:spLocks noGrp="1"/>
          </p:cNvSpPr>
          <p:nvPr>
            <p:ph type="sldNum" sz="quarter" idx="5"/>
          </p:nvPr>
        </p:nvSpPr>
        <p:spPr/>
        <p:txBody>
          <a:bodyPr/>
          <a:lstStyle/>
          <a:p>
            <a:fld id="{3511E8AD-CD66-496F-81D2-79829A498A60}" type="slidenum">
              <a:rPr lang="en-US" smtClean="0"/>
              <a:t>2</a:t>
            </a:fld>
            <a:endParaRPr lang="en-US"/>
          </a:p>
        </p:txBody>
      </p:sp>
    </p:spTree>
    <p:extLst>
      <p:ext uri="{BB962C8B-B14F-4D97-AF65-F5344CB8AC3E}">
        <p14:creationId xmlns:p14="http://schemas.microsoft.com/office/powerpoint/2010/main" val="32531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Raspberry Pi 5 boasts significant upgrades, including a quad-core Cortex-A76 CPU running at 2.4GHz, the </a:t>
            </a:r>
            <a:r>
              <a:rPr lang="en-US" dirty="0" err="1"/>
              <a:t>VideoCore</a:t>
            </a:r>
            <a:r>
              <a:rPr lang="en-US" dirty="0"/>
              <a:t> VII GPU, and up to 8GB of RAM. These features enhance performance for demanding applications and provide improved support for multitasking, making it ideal for advanced projects and educational uses.</a:t>
            </a:r>
          </a:p>
        </p:txBody>
      </p:sp>
      <p:sp>
        <p:nvSpPr>
          <p:cNvPr id="4" name="Slide Number Placeholder 3"/>
          <p:cNvSpPr>
            <a:spLocks noGrp="1"/>
          </p:cNvSpPr>
          <p:nvPr>
            <p:ph type="sldNum" sz="quarter" idx="5"/>
          </p:nvPr>
        </p:nvSpPr>
        <p:spPr/>
        <p:txBody>
          <a:bodyPr/>
          <a:lstStyle/>
          <a:p>
            <a:fld id="{3511E8AD-CD66-496F-81D2-79829A498A60}" type="slidenum">
              <a:rPr lang="en-US" smtClean="0"/>
              <a:t>3</a:t>
            </a:fld>
            <a:endParaRPr lang="en-US"/>
          </a:p>
        </p:txBody>
      </p:sp>
    </p:spTree>
    <p:extLst>
      <p:ext uri="{BB962C8B-B14F-4D97-AF65-F5344CB8AC3E}">
        <p14:creationId xmlns:p14="http://schemas.microsoft.com/office/powerpoint/2010/main" val="1055277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latest model includes dual 4K HDMI outputs, PCIe 2.0 support, and USB 3.0 connectivity. These expansion options allow for flexible interfacing with various peripherals, faster data transfer, and the ability to connect multiple displays, making it suitable for multimedia and development environments.</a:t>
            </a:r>
          </a:p>
        </p:txBody>
      </p:sp>
      <p:sp>
        <p:nvSpPr>
          <p:cNvPr id="4" name="Slide Number Placeholder 3"/>
          <p:cNvSpPr>
            <a:spLocks noGrp="1"/>
          </p:cNvSpPr>
          <p:nvPr>
            <p:ph type="sldNum" sz="quarter" idx="5"/>
          </p:nvPr>
        </p:nvSpPr>
        <p:spPr/>
        <p:txBody>
          <a:bodyPr/>
          <a:lstStyle/>
          <a:p>
            <a:fld id="{3511E8AD-CD66-496F-81D2-79829A498A60}" type="slidenum">
              <a:rPr lang="en-US" smtClean="0"/>
              <a:t>4</a:t>
            </a:fld>
            <a:endParaRPr lang="en-US"/>
          </a:p>
        </p:txBody>
      </p:sp>
    </p:spTree>
    <p:extLst>
      <p:ext uri="{BB962C8B-B14F-4D97-AF65-F5344CB8AC3E}">
        <p14:creationId xmlns:p14="http://schemas.microsoft.com/office/powerpoint/2010/main" val="3729733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Raspberry Pi 5 serves as a capable platform for edge computing, enabling real-time data processing directly on the device. This reduces latency and enhances system responsiveness, which is critical for time-sensitive applications. In robotics, its computational power supports autonomous control, sensor integration, and decision-making in both educational and professional contexts. Additionally, the device facilitates AI-driven image recognition tasks, leveraging its improved processing capabilities and connectivity to support vision-based systems.</a:t>
            </a:r>
          </a:p>
        </p:txBody>
      </p:sp>
      <p:sp>
        <p:nvSpPr>
          <p:cNvPr id="4" name="Slide Number Placeholder 3"/>
          <p:cNvSpPr>
            <a:spLocks noGrp="1"/>
          </p:cNvSpPr>
          <p:nvPr>
            <p:ph type="sldNum" sz="quarter" idx="5"/>
          </p:nvPr>
        </p:nvSpPr>
        <p:spPr/>
        <p:txBody>
          <a:bodyPr/>
          <a:lstStyle/>
          <a:p>
            <a:fld id="{3511E8AD-CD66-496F-81D2-79829A498A60}" type="slidenum">
              <a:rPr lang="en-US" smtClean="0"/>
              <a:t>5</a:t>
            </a:fld>
            <a:endParaRPr lang="en-US"/>
          </a:p>
        </p:txBody>
      </p:sp>
    </p:spTree>
    <p:extLst>
      <p:ext uri="{BB962C8B-B14F-4D97-AF65-F5344CB8AC3E}">
        <p14:creationId xmlns:p14="http://schemas.microsoft.com/office/powerpoint/2010/main" val="718152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5E797-A449-704C-41EA-7D19EE4F39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4625A5-44B8-3E1E-5FF2-13B3E8311C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1D87C5-6074-DE58-219E-1DDEC01E2643}"/>
              </a:ext>
            </a:extLst>
          </p:cNvPr>
          <p:cNvSpPr>
            <a:spLocks noGrp="1"/>
          </p:cNvSpPr>
          <p:nvPr>
            <p:ph type="body" idx="1"/>
          </p:nvPr>
        </p:nvSpPr>
        <p:spPr/>
        <p:txBody>
          <a:bodyPr/>
          <a:lstStyle/>
          <a:p>
            <a:r>
              <a:rPr lang="en-US" dirty="0"/>
              <a:t>The Robot HAT is a versatile expansion board designed to extend the capabilities of the Raspberry Pi 5 for robotics applications. It integrates essential hardware interfaces that support motor control, sensor input, and audio output, enabling the development of intelligent and interactive robotic systems. With built-in support for multiple communication protocols such as PWM, I2C, SPI, UART, and ADC, the Robot HAT facilitates seamless integration with a wide range of components including DC motors, servo motors, ultrasonic sensors, and infrared modules.</a:t>
            </a:r>
          </a:p>
          <a:p>
            <a:r>
              <a:rPr lang="en-US" dirty="0"/>
              <a:t>Its onboard microphone and speaker also allow for basic voice interaction, making it suitable for projects involving speech-based control or feedback. Whether used in educational settings, hobbyist builds, or prototype development, the Robot HAT transforms the Raspberry Pi 5 into a compact yet powerful robotics controller capable of supporting autonomous behavior and real-time decision-making.</a:t>
            </a:r>
          </a:p>
          <a:p>
            <a:endParaRPr lang="en-US" dirty="0"/>
          </a:p>
        </p:txBody>
      </p:sp>
      <p:sp>
        <p:nvSpPr>
          <p:cNvPr id="4" name="Slide Number Placeholder 3">
            <a:extLst>
              <a:ext uri="{FF2B5EF4-FFF2-40B4-BE49-F238E27FC236}">
                <a16:creationId xmlns:a16="http://schemas.microsoft.com/office/drawing/2014/main" id="{B6B19BD6-20F3-2A9C-71D8-D7F9CE8E4A91}"/>
              </a:ext>
            </a:extLst>
          </p:cNvPr>
          <p:cNvSpPr>
            <a:spLocks noGrp="1"/>
          </p:cNvSpPr>
          <p:nvPr>
            <p:ph type="sldNum" sz="quarter" idx="5"/>
          </p:nvPr>
        </p:nvSpPr>
        <p:spPr/>
        <p:txBody>
          <a:bodyPr/>
          <a:lstStyle/>
          <a:p>
            <a:fld id="{3511E8AD-CD66-496F-81D2-79829A498A60}" type="slidenum">
              <a:rPr lang="en-US" smtClean="0"/>
              <a:t>6</a:t>
            </a:fld>
            <a:endParaRPr lang="en-US"/>
          </a:p>
        </p:txBody>
      </p:sp>
    </p:spTree>
    <p:extLst>
      <p:ext uri="{BB962C8B-B14F-4D97-AF65-F5344CB8AC3E}">
        <p14:creationId xmlns:p14="http://schemas.microsoft.com/office/powerpoint/2010/main" val="3624818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39BE9-E9AF-65A2-F861-4F38AE277F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A0179E-90CE-7863-CB42-0E4AAB08A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92632A-3C12-3ED2-2875-C55B9B61DA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4AAFF9-29F6-A17A-989A-7DC832FAE431}"/>
              </a:ext>
            </a:extLst>
          </p:cNvPr>
          <p:cNvSpPr>
            <a:spLocks noGrp="1"/>
          </p:cNvSpPr>
          <p:nvPr>
            <p:ph type="sldNum" sz="quarter" idx="5"/>
          </p:nvPr>
        </p:nvSpPr>
        <p:spPr/>
        <p:txBody>
          <a:bodyPr/>
          <a:lstStyle/>
          <a:p>
            <a:fld id="{3511E8AD-CD66-496F-81D2-79829A498A60}" type="slidenum">
              <a:rPr lang="en-US" smtClean="0"/>
              <a:t>7</a:t>
            </a:fld>
            <a:endParaRPr lang="en-US"/>
          </a:p>
        </p:txBody>
      </p:sp>
    </p:spTree>
    <p:extLst>
      <p:ext uri="{BB962C8B-B14F-4D97-AF65-F5344CB8AC3E}">
        <p14:creationId xmlns:p14="http://schemas.microsoft.com/office/powerpoint/2010/main" val="130118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0D8DF-2D4C-A3D6-9691-5F3BE43835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5BAD6F-0315-456E-0E6F-41CB5530CC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707326-CBC9-CE94-3504-A7171160EE32}"/>
              </a:ext>
            </a:extLst>
          </p:cNvPr>
          <p:cNvSpPr>
            <a:spLocks noGrp="1"/>
          </p:cNvSpPr>
          <p:nvPr>
            <p:ph type="dt" sz="half" idx="10"/>
          </p:nvPr>
        </p:nvSpPr>
        <p:spPr/>
        <p:txBody>
          <a:bodyPr/>
          <a:lstStyle/>
          <a:p>
            <a:fld id="{E932263F-F8E2-4E3D-A62A-D2AC65F334F3}" type="datetimeFigureOut">
              <a:rPr lang="en-US" smtClean="0"/>
              <a:t>10/13/2025</a:t>
            </a:fld>
            <a:endParaRPr lang="en-US"/>
          </a:p>
        </p:txBody>
      </p:sp>
      <p:sp>
        <p:nvSpPr>
          <p:cNvPr id="5" name="Footer Placeholder 4">
            <a:extLst>
              <a:ext uri="{FF2B5EF4-FFF2-40B4-BE49-F238E27FC236}">
                <a16:creationId xmlns:a16="http://schemas.microsoft.com/office/drawing/2014/main" id="{29975946-AFCE-F2D1-D615-124E026387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D90391-FF02-A424-7E64-82F47ECD4A63}"/>
              </a:ext>
            </a:extLst>
          </p:cNvPr>
          <p:cNvSpPr>
            <a:spLocks noGrp="1"/>
          </p:cNvSpPr>
          <p:nvPr>
            <p:ph type="sldNum" sz="quarter" idx="12"/>
          </p:nvPr>
        </p:nvSpPr>
        <p:spPr/>
        <p:txBody>
          <a:bodyPr/>
          <a:lstStyle/>
          <a:p>
            <a:fld id="{DF28656F-57DE-4BF9-8CE6-3193C9BB9839}" type="slidenum">
              <a:rPr lang="en-US" smtClean="0"/>
              <a:t>‹#›</a:t>
            </a:fld>
            <a:endParaRPr lang="en-US"/>
          </a:p>
        </p:txBody>
      </p:sp>
    </p:spTree>
    <p:extLst>
      <p:ext uri="{BB962C8B-B14F-4D97-AF65-F5344CB8AC3E}">
        <p14:creationId xmlns:p14="http://schemas.microsoft.com/office/powerpoint/2010/main" val="2136651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65AE9-6EDD-D85B-20D0-EF53B378CF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08D8E1-DDF3-EA02-F6F3-6B23512775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96CB40-C5BE-CD7C-BC8C-5D9A0D2FB4F3}"/>
              </a:ext>
            </a:extLst>
          </p:cNvPr>
          <p:cNvSpPr>
            <a:spLocks noGrp="1"/>
          </p:cNvSpPr>
          <p:nvPr>
            <p:ph type="dt" sz="half" idx="10"/>
          </p:nvPr>
        </p:nvSpPr>
        <p:spPr/>
        <p:txBody>
          <a:bodyPr/>
          <a:lstStyle/>
          <a:p>
            <a:fld id="{E932263F-F8E2-4E3D-A62A-D2AC65F334F3}" type="datetimeFigureOut">
              <a:rPr lang="en-US" smtClean="0"/>
              <a:t>10/13/2025</a:t>
            </a:fld>
            <a:endParaRPr lang="en-US"/>
          </a:p>
        </p:txBody>
      </p:sp>
      <p:sp>
        <p:nvSpPr>
          <p:cNvPr id="5" name="Footer Placeholder 4">
            <a:extLst>
              <a:ext uri="{FF2B5EF4-FFF2-40B4-BE49-F238E27FC236}">
                <a16:creationId xmlns:a16="http://schemas.microsoft.com/office/drawing/2014/main" id="{8F07451E-E65C-3FBF-B274-20ADB07EB9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E43651-5A95-F85E-0EC1-568816BE8CDD}"/>
              </a:ext>
            </a:extLst>
          </p:cNvPr>
          <p:cNvSpPr>
            <a:spLocks noGrp="1"/>
          </p:cNvSpPr>
          <p:nvPr>
            <p:ph type="sldNum" sz="quarter" idx="12"/>
          </p:nvPr>
        </p:nvSpPr>
        <p:spPr/>
        <p:txBody>
          <a:bodyPr/>
          <a:lstStyle/>
          <a:p>
            <a:fld id="{DF28656F-57DE-4BF9-8CE6-3193C9BB9839}" type="slidenum">
              <a:rPr lang="en-US" smtClean="0"/>
              <a:t>‹#›</a:t>
            </a:fld>
            <a:endParaRPr lang="en-US"/>
          </a:p>
        </p:txBody>
      </p:sp>
    </p:spTree>
    <p:extLst>
      <p:ext uri="{BB962C8B-B14F-4D97-AF65-F5344CB8AC3E}">
        <p14:creationId xmlns:p14="http://schemas.microsoft.com/office/powerpoint/2010/main" val="2383732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A575C-7721-FE22-C613-0B5ED811AB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6D6FD4-2B54-2F45-BD7D-865A3B6AF9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D04138-2419-8987-396C-9124D0B5D551}"/>
              </a:ext>
            </a:extLst>
          </p:cNvPr>
          <p:cNvSpPr>
            <a:spLocks noGrp="1"/>
          </p:cNvSpPr>
          <p:nvPr>
            <p:ph type="dt" sz="half" idx="10"/>
          </p:nvPr>
        </p:nvSpPr>
        <p:spPr/>
        <p:txBody>
          <a:bodyPr/>
          <a:lstStyle/>
          <a:p>
            <a:fld id="{E932263F-F8E2-4E3D-A62A-D2AC65F334F3}" type="datetimeFigureOut">
              <a:rPr lang="en-US" smtClean="0"/>
              <a:t>10/13/2025</a:t>
            </a:fld>
            <a:endParaRPr lang="en-US"/>
          </a:p>
        </p:txBody>
      </p:sp>
      <p:sp>
        <p:nvSpPr>
          <p:cNvPr id="5" name="Footer Placeholder 4">
            <a:extLst>
              <a:ext uri="{FF2B5EF4-FFF2-40B4-BE49-F238E27FC236}">
                <a16:creationId xmlns:a16="http://schemas.microsoft.com/office/drawing/2014/main" id="{6BFB0640-B5F2-ED26-9B68-D67E059882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DFBD5-0A53-4403-6EAA-254325246223}"/>
              </a:ext>
            </a:extLst>
          </p:cNvPr>
          <p:cNvSpPr>
            <a:spLocks noGrp="1"/>
          </p:cNvSpPr>
          <p:nvPr>
            <p:ph type="sldNum" sz="quarter" idx="12"/>
          </p:nvPr>
        </p:nvSpPr>
        <p:spPr/>
        <p:txBody>
          <a:bodyPr/>
          <a:lstStyle/>
          <a:p>
            <a:fld id="{DF28656F-57DE-4BF9-8CE6-3193C9BB9839}" type="slidenum">
              <a:rPr lang="en-US" smtClean="0"/>
              <a:t>‹#›</a:t>
            </a:fld>
            <a:endParaRPr lang="en-US"/>
          </a:p>
        </p:txBody>
      </p:sp>
    </p:spTree>
    <p:extLst>
      <p:ext uri="{BB962C8B-B14F-4D97-AF65-F5344CB8AC3E}">
        <p14:creationId xmlns:p14="http://schemas.microsoft.com/office/powerpoint/2010/main" val="1843502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A254B-D6BA-E4EA-4C9E-ABFCEBE374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826AD6-C6B2-1024-B56A-F74D7021F0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FF649C-22B3-4B24-2520-E11D63A838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B7B39F-6852-60D3-E065-7B6FED6C222E}"/>
              </a:ext>
            </a:extLst>
          </p:cNvPr>
          <p:cNvSpPr>
            <a:spLocks noGrp="1"/>
          </p:cNvSpPr>
          <p:nvPr>
            <p:ph type="dt" sz="half" idx="10"/>
          </p:nvPr>
        </p:nvSpPr>
        <p:spPr/>
        <p:txBody>
          <a:bodyPr/>
          <a:lstStyle/>
          <a:p>
            <a:fld id="{E932263F-F8E2-4E3D-A62A-D2AC65F334F3}" type="datetimeFigureOut">
              <a:rPr lang="en-US" smtClean="0"/>
              <a:t>10/13/2025</a:t>
            </a:fld>
            <a:endParaRPr lang="en-US"/>
          </a:p>
        </p:txBody>
      </p:sp>
      <p:sp>
        <p:nvSpPr>
          <p:cNvPr id="6" name="Footer Placeholder 5">
            <a:extLst>
              <a:ext uri="{FF2B5EF4-FFF2-40B4-BE49-F238E27FC236}">
                <a16:creationId xmlns:a16="http://schemas.microsoft.com/office/drawing/2014/main" id="{98FFDBCF-F036-FB34-B898-7ED9D6CCFC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6ABEAC-3E5C-4BE2-FC61-ECB8A50459CE}"/>
              </a:ext>
            </a:extLst>
          </p:cNvPr>
          <p:cNvSpPr>
            <a:spLocks noGrp="1"/>
          </p:cNvSpPr>
          <p:nvPr>
            <p:ph type="sldNum" sz="quarter" idx="12"/>
          </p:nvPr>
        </p:nvSpPr>
        <p:spPr/>
        <p:txBody>
          <a:bodyPr/>
          <a:lstStyle/>
          <a:p>
            <a:fld id="{DF28656F-57DE-4BF9-8CE6-3193C9BB9839}" type="slidenum">
              <a:rPr lang="en-US" smtClean="0"/>
              <a:t>‹#›</a:t>
            </a:fld>
            <a:endParaRPr lang="en-US"/>
          </a:p>
        </p:txBody>
      </p:sp>
    </p:spTree>
    <p:extLst>
      <p:ext uri="{BB962C8B-B14F-4D97-AF65-F5344CB8AC3E}">
        <p14:creationId xmlns:p14="http://schemas.microsoft.com/office/powerpoint/2010/main" val="4072599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BA2D8-6F28-6AAD-CAAB-259A4BF31F7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830A59-4ED0-A0A7-2E18-8BDD1583B9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31D3C6-ADE6-598B-4916-53D9D88195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714878-BFD3-C596-AE84-2FF71DB6FD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BE3DF9-6D83-55E2-9789-4884102930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77F013-1032-9640-3565-3FC54CE761B1}"/>
              </a:ext>
            </a:extLst>
          </p:cNvPr>
          <p:cNvSpPr>
            <a:spLocks noGrp="1"/>
          </p:cNvSpPr>
          <p:nvPr>
            <p:ph type="dt" sz="half" idx="10"/>
          </p:nvPr>
        </p:nvSpPr>
        <p:spPr/>
        <p:txBody>
          <a:bodyPr/>
          <a:lstStyle/>
          <a:p>
            <a:fld id="{E932263F-F8E2-4E3D-A62A-D2AC65F334F3}" type="datetimeFigureOut">
              <a:rPr lang="en-US" smtClean="0"/>
              <a:t>10/13/2025</a:t>
            </a:fld>
            <a:endParaRPr lang="en-US"/>
          </a:p>
        </p:txBody>
      </p:sp>
      <p:sp>
        <p:nvSpPr>
          <p:cNvPr id="8" name="Footer Placeholder 7">
            <a:extLst>
              <a:ext uri="{FF2B5EF4-FFF2-40B4-BE49-F238E27FC236}">
                <a16:creationId xmlns:a16="http://schemas.microsoft.com/office/drawing/2014/main" id="{0DF535EF-84E1-E05F-980A-CA2EF2AB09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EBA7BCA-805D-515F-2E94-F6FABA9B481F}"/>
              </a:ext>
            </a:extLst>
          </p:cNvPr>
          <p:cNvSpPr>
            <a:spLocks noGrp="1"/>
          </p:cNvSpPr>
          <p:nvPr>
            <p:ph type="sldNum" sz="quarter" idx="12"/>
          </p:nvPr>
        </p:nvSpPr>
        <p:spPr/>
        <p:txBody>
          <a:bodyPr/>
          <a:lstStyle/>
          <a:p>
            <a:fld id="{DF28656F-57DE-4BF9-8CE6-3193C9BB9839}" type="slidenum">
              <a:rPr lang="en-US" smtClean="0"/>
              <a:t>‹#›</a:t>
            </a:fld>
            <a:endParaRPr lang="en-US"/>
          </a:p>
        </p:txBody>
      </p:sp>
    </p:spTree>
    <p:extLst>
      <p:ext uri="{BB962C8B-B14F-4D97-AF65-F5344CB8AC3E}">
        <p14:creationId xmlns:p14="http://schemas.microsoft.com/office/powerpoint/2010/main" val="1980554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CFD5A-5D4F-217D-90B9-286B8A3EDD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5C856D-DDB5-E119-28F2-9F7511365ABA}"/>
              </a:ext>
            </a:extLst>
          </p:cNvPr>
          <p:cNvSpPr>
            <a:spLocks noGrp="1"/>
          </p:cNvSpPr>
          <p:nvPr>
            <p:ph type="dt" sz="half" idx="10"/>
          </p:nvPr>
        </p:nvSpPr>
        <p:spPr/>
        <p:txBody>
          <a:bodyPr/>
          <a:lstStyle/>
          <a:p>
            <a:fld id="{E932263F-F8E2-4E3D-A62A-D2AC65F334F3}" type="datetimeFigureOut">
              <a:rPr lang="en-US" smtClean="0"/>
              <a:t>10/13/2025</a:t>
            </a:fld>
            <a:endParaRPr lang="en-US"/>
          </a:p>
        </p:txBody>
      </p:sp>
      <p:sp>
        <p:nvSpPr>
          <p:cNvPr id="4" name="Footer Placeholder 3">
            <a:extLst>
              <a:ext uri="{FF2B5EF4-FFF2-40B4-BE49-F238E27FC236}">
                <a16:creationId xmlns:a16="http://schemas.microsoft.com/office/drawing/2014/main" id="{13F2152D-188D-8AC4-D964-844091558A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827754-35E5-E8BA-5CD0-C379E2035DBD}"/>
              </a:ext>
            </a:extLst>
          </p:cNvPr>
          <p:cNvSpPr>
            <a:spLocks noGrp="1"/>
          </p:cNvSpPr>
          <p:nvPr>
            <p:ph type="sldNum" sz="quarter" idx="12"/>
          </p:nvPr>
        </p:nvSpPr>
        <p:spPr/>
        <p:txBody>
          <a:bodyPr/>
          <a:lstStyle/>
          <a:p>
            <a:fld id="{DF28656F-57DE-4BF9-8CE6-3193C9BB9839}" type="slidenum">
              <a:rPr lang="en-US" smtClean="0"/>
              <a:t>‹#›</a:t>
            </a:fld>
            <a:endParaRPr lang="en-US"/>
          </a:p>
        </p:txBody>
      </p:sp>
    </p:spTree>
    <p:extLst>
      <p:ext uri="{BB962C8B-B14F-4D97-AF65-F5344CB8AC3E}">
        <p14:creationId xmlns:p14="http://schemas.microsoft.com/office/powerpoint/2010/main" val="3892837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1F4372-25EA-062E-1F6E-3F71EE4600E1}"/>
              </a:ext>
            </a:extLst>
          </p:cNvPr>
          <p:cNvSpPr>
            <a:spLocks noGrp="1"/>
          </p:cNvSpPr>
          <p:nvPr>
            <p:ph type="dt" sz="half" idx="10"/>
          </p:nvPr>
        </p:nvSpPr>
        <p:spPr/>
        <p:txBody>
          <a:bodyPr/>
          <a:lstStyle/>
          <a:p>
            <a:fld id="{E932263F-F8E2-4E3D-A62A-D2AC65F334F3}" type="datetimeFigureOut">
              <a:rPr lang="en-US" smtClean="0"/>
              <a:t>10/13/2025</a:t>
            </a:fld>
            <a:endParaRPr lang="en-US"/>
          </a:p>
        </p:txBody>
      </p:sp>
      <p:sp>
        <p:nvSpPr>
          <p:cNvPr id="3" name="Footer Placeholder 2">
            <a:extLst>
              <a:ext uri="{FF2B5EF4-FFF2-40B4-BE49-F238E27FC236}">
                <a16:creationId xmlns:a16="http://schemas.microsoft.com/office/drawing/2014/main" id="{DB9F9879-5259-DA1C-C45D-92785EE5592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725B59-56DD-BD80-925A-5397B462C927}"/>
              </a:ext>
            </a:extLst>
          </p:cNvPr>
          <p:cNvSpPr>
            <a:spLocks noGrp="1"/>
          </p:cNvSpPr>
          <p:nvPr>
            <p:ph type="sldNum" sz="quarter" idx="12"/>
          </p:nvPr>
        </p:nvSpPr>
        <p:spPr/>
        <p:txBody>
          <a:bodyPr/>
          <a:lstStyle/>
          <a:p>
            <a:fld id="{DF28656F-57DE-4BF9-8CE6-3193C9BB9839}" type="slidenum">
              <a:rPr lang="en-US" smtClean="0"/>
              <a:t>‹#›</a:t>
            </a:fld>
            <a:endParaRPr lang="en-US"/>
          </a:p>
        </p:txBody>
      </p:sp>
    </p:spTree>
    <p:extLst>
      <p:ext uri="{BB962C8B-B14F-4D97-AF65-F5344CB8AC3E}">
        <p14:creationId xmlns:p14="http://schemas.microsoft.com/office/powerpoint/2010/main" val="2315233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A055E-18CC-167A-1DAB-A80FD9CDE1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073B342-7516-44CC-52A8-CD4D043BF3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B2B716E-FBDD-809D-6504-1CCE79B913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1F3254-936F-EB96-09F2-364F5FB296EB}"/>
              </a:ext>
            </a:extLst>
          </p:cNvPr>
          <p:cNvSpPr>
            <a:spLocks noGrp="1"/>
          </p:cNvSpPr>
          <p:nvPr>
            <p:ph type="dt" sz="half" idx="10"/>
          </p:nvPr>
        </p:nvSpPr>
        <p:spPr/>
        <p:txBody>
          <a:bodyPr/>
          <a:lstStyle/>
          <a:p>
            <a:fld id="{E932263F-F8E2-4E3D-A62A-D2AC65F334F3}" type="datetimeFigureOut">
              <a:rPr lang="en-US" smtClean="0"/>
              <a:t>10/13/2025</a:t>
            </a:fld>
            <a:endParaRPr lang="en-US"/>
          </a:p>
        </p:txBody>
      </p:sp>
      <p:sp>
        <p:nvSpPr>
          <p:cNvPr id="6" name="Footer Placeholder 5">
            <a:extLst>
              <a:ext uri="{FF2B5EF4-FFF2-40B4-BE49-F238E27FC236}">
                <a16:creationId xmlns:a16="http://schemas.microsoft.com/office/drawing/2014/main" id="{00A7A508-E2A0-081B-6830-0751438E54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929FA3-3249-4470-0372-DE5F09F493B0}"/>
              </a:ext>
            </a:extLst>
          </p:cNvPr>
          <p:cNvSpPr>
            <a:spLocks noGrp="1"/>
          </p:cNvSpPr>
          <p:nvPr>
            <p:ph type="sldNum" sz="quarter" idx="12"/>
          </p:nvPr>
        </p:nvSpPr>
        <p:spPr/>
        <p:txBody>
          <a:bodyPr/>
          <a:lstStyle/>
          <a:p>
            <a:fld id="{DF28656F-57DE-4BF9-8CE6-3193C9BB9839}" type="slidenum">
              <a:rPr lang="en-US" smtClean="0"/>
              <a:t>‹#›</a:t>
            </a:fld>
            <a:endParaRPr lang="en-US"/>
          </a:p>
        </p:txBody>
      </p:sp>
    </p:spTree>
    <p:extLst>
      <p:ext uri="{BB962C8B-B14F-4D97-AF65-F5344CB8AC3E}">
        <p14:creationId xmlns:p14="http://schemas.microsoft.com/office/powerpoint/2010/main" val="445218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1A75-48DF-C07E-F0CD-C26EAA4C27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A118E97-CB67-4723-1E3B-7EE7E92E4B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85B4AAD-E6BA-E13A-0355-BA4885D62A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5B38F9-C6FA-A1A7-E8D6-0ACDFA115B15}"/>
              </a:ext>
            </a:extLst>
          </p:cNvPr>
          <p:cNvSpPr>
            <a:spLocks noGrp="1"/>
          </p:cNvSpPr>
          <p:nvPr>
            <p:ph type="dt" sz="half" idx="10"/>
          </p:nvPr>
        </p:nvSpPr>
        <p:spPr/>
        <p:txBody>
          <a:bodyPr/>
          <a:lstStyle/>
          <a:p>
            <a:fld id="{E932263F-F8E2-4E3D-A62A-D2AC65F334F3}" type="datetimeFigureOut">
              <a:rPr lang="en-US" smtClean="0"/>
              <a:t>10/13/2025</a:t>
            </a:fld>
            <a:endParaRPr lang="en-US"/>
          </a:p>
        </p:txBody>
      </p:sp>
      <p:sp>
        <p:nvSpPr>
          <p:cNvPr id="6" name="Footer Placeholder 5">
            <a:extLst>
              <a:ext uri="{FF2B5EF4-FFF2-40B4-BE49-F238E27FC236}">
                <a16:creationId xmlns:a16="http://schemas.microsoft.com/office/drawing/2014/main" id="{473F709A-E5ED-E805-4FDB-E970B72A6B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86B9E1-BA81-B4F3-74BA-CF7984EF6841}"/>
              </a:ext>
            </a:extLst>
          </p:cNvPr>
          <p:cNvSpPr>
            <a:spLocks noGrp="1"/>
          </p:cNvSpPr>
          <p:nvPr>
            <p:ph type="sldNum" sz="quarter" idx="12"/>
          </p:nvPr>
        </p:nvSpPr>
        <p:spPr/>
        <p:txBody>
          <a:bodyPr/>
          <a:lstStyle/>
          <a:p>
            <a:fld id="{DF28656F-57DE-4BF9-8CE6-3193C9BB9839}" type="slidenum">
              <a:rPr lang="en-US" smtClean="0"/>
              <a:t>‹#›</a:t>
            </a:fld>
            <a:endParaRPr lang="en-US"/>
          </a:p>
        </p:txBody>
      </p:sp>
    </p:spTree>
    <p:extLst>
      <p:ext uri="{BB962C8B-B14F-4D97-AF65-F5344CB8AC3E}">
        <p14:creationId xmlns:p14="http://schemas.microsoft.com/office/powerpoint/2010/main" val="3507164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57801-FEDC-3B53-D22F-5D1670FBD8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4A076E4-E617-002B-0292-A860133CD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209F8C-A17B-2A8D-C53B-54D06DB36459}"/>
              </a:ext>
            </a:extLst>
          </p:cNvPr>
          <p:cNvSpPr>
            <a:spLocks noGrp="1"/>
          </p:cNvSpPr>
          <p:nvPr>
            <p:ph type="dt" sz="half" idx="10"/>
          </p:nvPr>
        </p:nvSpPr>
        <p:spPr/>
        <p:txBody>
          <a:bodyPr/>
          <a:lstStyle/>
          <a:p>
            <a:fld id="{E932263F-F8E2-4E3D-A62A-D2AC65F334F3}" type="datetimeFigureOut">
              <a:rPr lang="en-US" smtClean="0"/>
              <a:t>10/13/2025</a:t>
            </a:fld>
            <a:endParaRPr lang="en-US"/>
          </a:p>
        </p:txBody>
      </p:sp>
      <p:sp>
        <p:nvSpPr>
          <p:cNvPr id="5" name="Footer Placeholder 4">
            <a:extLst>
              <a:ext uri="{FF2B5EF4-FFF2-40B4-BE49-F238E27FC236}">
                <a16:creationId xmlns:a16="http://schemas.microsoft.com/office/drawing/2014/main" id="{6706C995-D3FE-254D-9CF3-8C8357F66B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EE5468-317B-BF49-F1EA-5291572F6DE5}"/>
              </a:ext>
            </a:extLst>
          </p:cNvPr>
          <p:cNvSpPr>
            <a:spLocks noGrp="1"/>
          </p:cNvSpPr>
          <p:nvPr>
            <p:ph type="sldNum" sz="quarter" idx="12"/>
          </p:nvPr>
        </p:nvSpPr>
        <p:spPr/>
        <p:txBody>
          <a:bodyPr/>
          <a:lstStyle/>
          <a:p>
            <a:fld id="{DF28656F-57DE-4BF9-8CE6-3193C9BB9839}" type="slidenum">
              <a:rPr lang="en-US" smtClean="0"/>
              <a:t>‹#›</a:t>
            </a:fld>
            <a:endParaRPr lang="en-US"/>
          </a:p>
        </p:txBody>
      </p:sp>
    </p:spTree>
    <p:extLst>
      <p:ext uri="{BB962C8B-B14F-4D97-AF65-F5344CB8AC3E}">
        <p14:creationId xmlns:p14="http://schemas.microsoft.com/office/powerpoint/2010/main" val="4186359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25EAAD-E06A-51BC-B971-8DDB0FBDED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BCB8BA-CBF4-B7C8-F2C0-295F91188E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8CBD04-19F2-9852-6CCF-9B8D4EA86ABF}"/>
              </a:ext>
            </a:extLst>
          </p:cNvPr>
          <p:cNvSpPr>
            <a:spLocks noGrp="1"/>
          </p:cNvSpPr>
          <p:nvPr>
            <p:ph type="dt" sz="half" idx="10"/>
          </p:nvPr>
        </p:nvSpPr>
        <p:spPr/>
        <p:txBody>
          <a:bodyPr/>
          <a:lstStyle/>
          <a:p>
            <a:fld id="{E932263F-F8E2-4E3D-A62A-D2AC65F334F3}" type="datetimeFigureOut">
              <a:rPr lang="en-US" smtClean="0"/>
              <a:t>10/13/2025</a:t>
            </a:fld>
            <a:endParaRPr lang="en-US"/>
          </a:p>
        </p:txBody>
      </p:sp>
      <p:sp>
        <p:nvSpPr>
          <p:cNvPr id="5" name="Footer Placeholder 4">
            <a:extLst>
              <a:ext uri="{FF2B5EF4-FFF2-40B4-BE49-F238E27FC236}">
                <a16:creationId xmlns:a16="http://schemas.microsoft.com/office/drawing/2014/main" id="{0D906567-EC92-3DCF-1D24-2E51E0D624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B5FBF3-1765-C6D4-AA4C-4ACCBBB4ACA4}"/>
              </a:ext>
            </a:extLst>
          </p:cNvPr>
          <p:cNvSpPr>
            <a:spLocks noGrp="1"/>
          </p:cNvSpPr>
          <p:nvPr>
            <p:ph type="sldNum" sz="quarter" idx="12"/>
          </p:nvPr>
        </p:nvSpPr>
        <p:spPr/>
        <p:txBody>
          <a:bodyPr/>
          <a:lstStyle/>
          <a:p>
            <a:fld id="{DF28656F-57DE-4BF9-8CE6-3193C9BB9839}" type="slidenum">
              <a:rPr lang="en-US" smtClean="0"/>
              <a:t>‹#›</a:t>
            </a:fld>
            <a:endParaRPr lang="en-US"/>
          </a:p>
        </p:txBody>
      </p:sp>
    </p:spTree>
    <p:extLst>
      <p:ext uri="{BB962C8B-B14F-4D97-AF65-F5344CB8AC3E}">
        <p14:creationId xmlns:p14="http://schemas.microsoft.com/office/powerpoint/2010/main" val="1190059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866374-0713-6FD9-ED4C-5E5F710CEE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5BC0CCD-9752-C6D9-19A8-9E90AAF7F2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761A49-BE4F-1D4D-D450-677994E414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32263F-F8E2-4E3D-A62A-D2AC65F334F3}" type="datetimeFigureOut">
              <a:rPr lang="en-US" smtClean="0"/>
              <a:t>10/13/2025</a:t>
            </a:fld>
            <a:endParaRPr lang="en-US"/>
          </a:p>
        </p:txBody>
      </p:sp>
      <p:sp>
        <p:nvSpPr>
          <p:cNvPr id="5" name="Footer Placeholder 4">
            <a:extLst>
              <a:ext uri="{FF2B5EF4-FFF2-40B4-BE49-F238E27FC236}">
                <a16:creationId xmlns:a16="http://schemas.microsoft.com/office/drawing/2014/main" id="{06AE9345-3C6A-515B-6712-1D99773F56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50D6C5-299D-D63B-B2CE-0DFE389B99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28656F-57DE-4BF9-8CE6-3193C9BB9839}" type="slidenum">
              <a:rPr lang="en-US" smtClean="0"/>
              <a:t>‹#›</a:t>
            </a:fld>
            <a:endParaRPr lang="en-US"/>
          </a:p>
        </p:txBody>
      </p:sp>
    </p:spTree>
    <p:extLst>
      <p:ext uri="{BB962C8B-B14F-4D97-AF65-F5344CB8AC3E}">
        <p14:creationId xmlns:p14="http://schemas.microsoft.com/office/powerpoint/2010/main" val="11870556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hyperlink" Target="https://creativecommons.org/licenses/by-nc-sa/3.0/" TargetMode="External"/><Relationship Id="rId4" Type="http://schemas.openxmlformats.org/officeDocument/2006/relationships/hyperlink" Target="https://cloud.eliwhitney.org/projects/2025/roboti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3000" b="-41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2E9E86F-9FC3-A684-F6CB-CC4849C12E1F}"/>
              </a:ext>
            </a:extLst>
          </p:cNvPr>
          <p:cNvSpPr txBox="1"/>
          <p:nvPr/>
        </p:nvSpPr>
        <p:spPr>
          <a:xfrm>
            <a:off x="0" y="0"/>
            <a:ext cx="6880486" cy="1754326"/>
          </a:xfrm>
          <a:prstGeom prst="rect">
            <a:avLst/>
          </a:prstGeom>
          <a:noFill/>
        </p:spPr>
        <p:txBody>
          <a:bodyPr wrap="square" rtlCol="0">
            <a:spAutoFit/>
          </a:bodyPr>
          <a:lstStyle/>
          <a:p>
            <a:r>
              <a:rPr lang="en-US" sz="5400" dirty="0">
                <a:solidFill>
                  <a:schemeClr val="accent2">
                    <a:lumMod val="75000"/>
                  </a:schemeClr>
                </a:solidFill>
              </a:rPr>
              <a:t>Raspberry Pi5 </a:t>
            </a:r>
          </a:p>
          <a:p>
            <a:r>
              <a:rPr lang="en-US" sz="5400" dirty="0">
                <a:solidFill>
                  <a:schemeClr val="accent2">
                    <a:lumMod val="75000"/>
                  </a:schemeClr>
                </a:solidFill>
              </a:rPr>
              <a:t>Robot Hat</a:t>
            </a:r>
          </a:p>
        </p:txBody>
      </p:sp>
      <p:sp>
        <p:nvSpPr>
          <p:cNvPr id="8" name="TextBox 7">
            <a:extLst>
              <a:ext uri="{FF2B5EF4-FFF2-40B4-BE49-F238E27FC236}">
                <a16:creationId xmlns:a16="http://schemas.microsoft.com/office/drawing/2014/main" id="{2D7C0145-CA0C-4760-307F-5E7D362187AC}"/>
              </a:ext>
            </a:extLst>
          </p:cNvPr>
          <p:cNvSpPr txBox="1"/>
          <p:nvPr/>
        </p:nvSpPr>
        <p:spPr>
          <a:xfrm>
            <a:off x="104931" y="1754326"/>
            <a:ext cx="4092315" cy="923330"/>
          </a:xfrm>
          <a:prstGeom prst="rect">
            <a:avLst/>
          </a:prstGeom>
          <a:noFill/>
        </p:spPr>
        <p:txBody>
          <a:bodyPr wrap="square" rtlCol="0">
            <a:spAutoFit/>
          </a:bodyPr>
          <a:lstStyle/>
          <a:p>
            <a:r>
              <a:rPr lang="en-US" dirty="0"/>
              <a:t>Aima Ayaz</a:t>
            </a:r>
          </a:p>
          <a:p>
            <a:r>
              <a:rPr lang="en-US" dirty="0"/>
              <a:t>Ezra </a:t>
            </a:r>
            <a:r>
              <a:rPr lang="en-US" dirty="0" err="1"/>
              <a:t>Bakatubia</a:t>
            </a:r>
            <a:r>
              <a:rPr lang="en-US" dirty="0"/>
              <a:t> </a:t>
            </a:r>
          </a:p>
          <a:p>
            <a:r>
              <a:rPr lang="en-US" dirty="0"/>
              <a:t>ITAI 2374</a:t>
            </a:r>
          </a:p>
        </p:txBody>
      </p:sp>
    </p:spTree>
    <p:extLst>
      <p:ext uri="{BB962C8B-B14F-4D97-AF65-F5344CB8AC3E}">
        <p14:creationId xmlns:p14="http://schemas.microsoft.com/office/powerpoint/2010/main" val="502347809"/>
      </p:ext>
    </p:extLst>
  </p:cSld>
  <p:clrMapOvr>
    <a:overrideClrMapping bg1="dk1" tx1="lt1" bg2="dk2" tx2="lt2" accent1="accent1" accent2="accent2" accent3="accent3" accent4="accent4" accent5="accent5" accent6="accent6" hlink="hlink" folHlink="folHlink"/>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852508-602A-0B98-1683-CE1A9C21F6D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C9A69FD-240C-AD45-B6AA-05AC125FE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9E5030-3278-0BE3-20AC-F03618EACA74}"/>
              </a:ext>
            </a:extLst>
          </p:cNvPr>
          <p:cNvSpPr>
            <a:spLocks noGrp="1"/>
          </p:cNvSpPr>
          <p:nvPr>
            <p:ph type="title"/>
          </p:nvPr>
        </p:nvSpPr>
        <p:spPr>
          <a:xfrm>
            <a:off x="612647" y="134276"/>
            <a:ext cx="6035040" cy="1529932"/>
          </a:xfrm>
        </p:spPr>
        <p:txBody>
          <a:bodyPr vert="horz" lIns="91440" tIns="45720" rIns="91440" bIns="45720" rtlCol="0" anchor="b">
            <a:normAutofit/>
          </a:bodyPr>
          <a:lstStyle/>
          <a:p>
            <a:r>
              <a:rPr lang="en-US" sz="3600" b="1" dirty="0"/>
              <a:t>Raspberry Pi 5 Overview (Released October 2023)</a:t>
            </a:r>
            <a:r>
              <a:rPr lang="en-US" sz="3600" dirty="0"/>
              <a:t> </a:t>
            </a:r>
            <a:endParaRPr lang="en-US" sz="3600" b="1" kern="1200" dirty="0">
              <a:solidFill>
                <a:schemeClr val="tx1"/>
              </a:solidFill>
              <a:latin typeface="+mj-lt"/>
              <a:ea typeface="+mj-ea"/>
              <a:cs typeface="+mj-cs"/>
            </a:endParaRPr>
          </a:p>
        </p:txBody>
      </p:sp>
      <p:sp>
        <p:nvSpPr>
          <p:cNvPr id="4" name="Content Placeholder 3">
            <a:extLst>
              <a:ext uri="{FF2B5EF4-FFF2-40B4-BE49-F238E27FC236}">
                <a16:creationId xmlns:a16="http://schemas.microsoft.com/office/drawing/2014/main" id="{BF6B7328-B2C8-860A-7912-7BB877DF659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6" y="1913045"/>
            <a:ext cx="6035041" cy="4096512"/>
          </a:xfrm>
        </p:spPr>
        <p:txBody>
          <a:bodyPr>
            <a:normAutofit fontScale="92500" lnSpcReduction="10000"/>
          </a:bodyPr>
          <a:lstStyle/>
          <a:p>
            <a:pPr marL="0" indent="0">
              <a:buNone/>
            </a:pPr>
            <a:r>
              <a:rPr lang="en-US" sz="2400" dirty="0"/>
              <a:t>Key features include:</a:t>
            </a:r>
          </a:p>
          <a:p>
            <a:r>
              <a:rPr lang="en-US" sz="2400" b="1" dirty="0"/>
              <a:t>RAM options</a:t>
            </a:r>
            <a:r>
              <a:rPr lang="en-US" sz="2400" dirty="0"/>
              <a:t>: 2GB, 4GB, or 8GB LPDDR4X</a:t>
            </a:r>
          </a:p>
          <a:p>
            <a:r>
              <a:rPr lang="en-US" sz="2400" b="1" dirty="0"/>
              <a:t>Connectivity</a:t>
            </a:r>
            <a:r>
              <a:rPr lang="en-US" sz="2400" dirty="0"/>
              <a:t>: Dual-band Wi-Fi (802.11ac), Bluetooth 5.0/BLE</a:t>
            </a:r>
          </a:p>
          <a:p>
            <a:r>
              <a:rPr lang="en-US" sz="2400" b="1" dirty="0"/>
              <a:t>Ports</a:t>
            </a:r>
            <a:r>
              <a:rPr lang="en-US" sz="2400" dirty="0"/>
              <a:t>: 2× USB 3.0, 2× USB 2.0, Gigabit Ethernet with PoE+ support</a:t>
            </a:r>
          </a:p>
          <a:p>
            <a:r>
              <a:rPr lang="en-US" sz="2400" b="1" dirty="0"/>
              <a:t>Expansion</a:t>
            </a:r>
            <a:r>
              <a:rPr lang="en-US" sz="2400" dirty="0"/>
              <a:t>: PCIe 2.0 x1 interface, 2× MIPI camera/display transceivers</a:t>
            </a:r>
          </a:p>
          <a:p>
            <a:r>
              <a:rPr lang="en-US" sz="2400" b="1" dirty="0"/>
              <a:t>Storage</a:t>
            </a:r>
            <a:r>
              <a:rPr lang="en-US" sz="2400" dirty="0"/>
              <a:t>: High-speed microSD slot (SDR104 mode)</a:t>
            </a:r>
          </a:p>
          <a:p>
            <a:r>
              <a:rPr lang="en-US" sz="2400" b="1" dirty="0"/>
              <a:t>Extras</a:t>
            </a:r>
            <a:r>
              <a:rPr lang="en-US" sz="2400" dirty="0"/>
              <a:t>: Real-time clock (RTC), power button, 40-pin GPIO header</a:t>
            </a:r>
          </a:p>
        </p:txBody>
      </p:sp>
      <p:pic>
        <p:nvPicPr>
          <p:cNvPr id="5" name="Content Placeholder 4" descr="Close-up of circuit board">
            <a:extLst>
              <a:ext uri="{FF2B5EF4-FFF2-40B4-BE49-F238E27FC236}">
                <a16:creationId xmlns:a16="http://schemas.microsoft.com/office/drawing/2014/main" id="{E7D71E21-798E-FD19-19C8-790CF32A1559}"/>
              </a:ext>
            </a:extLst>
          </p:cNvPr>
          <p:cNvPicPr>
            <a:picLocks noGrp="1" noChangeAspect="1"/>
          </p:cNvPicPr>
          <p:nvPr>
            <p:ph sz="half" idx="1"/>
          </p:nvPr>
        </p:nvPicPr>
        <p:blipFill>
          <a:blip r:embed="rId3"/>
          <a:srcRect l="47485" r="5344"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372797478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7474D7-1742-7C54-B376-F9D63C985560}"/>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sz="3600" b="1" kern="1200" dirty="0">
                <a:solidFill>
                  <a:schemeClr val="tx1"/>
                </a:solidFill>
                <a:latin typeface="+mj-lt"/>
                <a:ea typeface="+mj-ea"/>
                <a:cs typeface="+mj-cs"/>
              </a:rPr>
              <a:t>Key Hardware Features of Raspberry Pi 5</a:t>
            </a:r>
          </a:p>
        </p:txBody>
      </p:sp>
      <p:sp>
        <p:nvSpPr>
          <p:cNvPr id="4" name="Content Placeholder 3">
            <a:extLst>
              <a:ext uri="{FF2B5EF4-FFF2-40B4-BE49-F238E27FC236}">
                <a16:creationId xmlns:a16="http://schemas.microsoft.com/office/drawing/2014/main" id="{55056CD0-5486-A871-7DFF-7C54AD705DB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None/>
            </a:pPr>
            <a:r>
              <a:rPr lang="en-US" sz="2000" b="1" dirty="0"/>
              <a:t>Powerful Processor</a:t>
            </a:r>
          </a:p>
          <a:p>
            <a:pPr marL="0" lvl="1" indent="0">
              <a:buNone/>
            </a:pPr>
            <a:r>
              <a:rPr lang="en-US" sz="2000" dirty="0"/>
              <a:t>Features a quad-core Cortex-A76 CPU clocked at 2.4GHz to handle demanding computing tasks efficiently.</a:t>
            </a:r>
          </a:p>
          <a:p>
            <a:pPr marL="0" indent="0">
              <a:spcBef>
                <a:spcPts val="2500"/>
              </a:spcBef>
              <a:buNone/>
            </a:pPr>
            <a:r>
              <a:rPr lang="en-US" sz="2000" b="1" dirty="0"/>
              <a:t>Advanced Graphics Processing</a:t>
            </a:r>
          </a:p>
          <a:p>
            <a:pPr marL="0" lvl="1" indent="0">
              <a:buNone/>
            </a:pPr>
            <a:r>
              <a:rPr lang="en-US" sz="2000" dirty="0"/>
              <a:t>Includes the </a:t>
            </a:r>
            <a:r>
              <a:rPr lang="en-US" sz="2000" dirty="0" err="1"/>
              <a:t>VideoCore</a:t>
            </a:r>
            <a:r>
              <a:rPr lang="en-US" sz="2000" dirty="0"/>
              <a:t> VII GPU for enhanced graphics performance and multimedia capabilities.</a:t>
            </a:r>
          </a:p>
          <a:p>
            <a:pPr marL="0" indent="0">
              <a:spcBef>
                <a:spcPts val="2500"/>
              </a:spcBef>
              <a:buNone/>
            </a:pPr>
            <a:r>
              <a:rPr lang="en-US" sz="2000" b="1" dirty="0"/>
              <a:t>Expanded Memory Capacity</a:t>
            </a:r>
          </a:p>
          <a:p>
            <a:pPr marL="0" lvl="1" indent="0">
              <a:buNone/>
            </a:pPr>
            <a:r>
              <a:rPr lang="en-US" sz="2000" dirty="0"/>
              <a:t>Offers up to 8GB of RAM for smooth multitasking and handling memory-intensive projects.</a:t>
            </a:r>
          </a:p>
        </p:txBody>
      </p:sp>
      <p:pic>
        <p:nvPicPr>
          <p:cNvPr id="5" name="Content Placeholder 4" descr="legs of a microprocessor - macro">
            <a:extLst>
              <a:ext uri="{FF2B5EF4-FFF2-40B4-BE49-F238E27FC236}">
                <a16:creationId xmlns:a16="http://schemas.microsoft.com/office/drawing/2014/main" id="{304DA317-83E2-4EDD-8E64-0BF029D110A0}"/>
              </a:ext>
            </a:extLst>
          </p:cNvPr>
          <p:cNvPicPr>
            <a:picLocks noGrp="1" noChangeAspect="1"/>
          </p:cNvPicPr>
          <p:nvPr>
            <p:ph sz="half" idx="1"/>
          </p:nvPr>
        </p:nvPicPr>
        <p:blipFill>
          <a:blip r:embed="rId3"/>
          <a:srcRect l="27487" r="25343"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173589565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C0BB28-82E2-597C-A1EE-A29824B254A0}"/>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Connectivity and Expansion Options</a:t>
            </a:r>
          </a:p>
        </p:txBody>
      </p:sp>
      <p:pic>
        <p:nvPicPr>
          <p:cNvPr id="5" name="Content Placeholder 4" descr="Shelves on wall with screens">
            <a:extLst>
              <a:ext uri="{FF2B5EF4-FFF2-40B4-BE49-F238E27FC236}">
                <a16:creationId xmlns:a16="http://schemas.microsoft.com/office/drawing/2014/main" id="{C5F30F7D-6A76-4435-A36D-7161D87E6709}"/>
              </a:ext>
            </a:extLst>
          </p:cNvPr>
          <p:cNvPicPr>
            <a:picLocks noGrp="1" noChangeAspect="1"/>
          </p:cNvPicPr>
          <p:nvPr>
            <p:ph sz="half" idx="1"/>
          </p:nvPr>
        </p:nvPicPr>
        <p:blipFill>
          <a:blip r:embed="rId3"/>
          <a:srcRect l="27977" r="24229"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B1907AC2-0655-97BF-070C-4B17393B257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lnSpcReduction="10000"/>
          </a:bodyPr>
          <a:lstStyle/>
          <a:p>
            <a:pPr marL="0" indent="0">
              <a:spcBef>
                <a:spcPts val="2500"/>
              </a:spcBef>
              <a:buFont typeface="Arial" panose="020B0604020202020204" pitchFamily="34" charset="0"/>
              <a:buNone/>
            </a:pPr>
            <a:r>
              <a:rPr lang="en-US" sz="2400" b="1" dirty="0"/>
              <a:t>Dual 4K HDMI Outputs</a:t>
            </a:r>
          </a:p>
          <a:p>
            <a:pPr marL="0" lvl="1" indent="0">
              <a:buFont typeface="Arial" panose="020B0604020202020204" pitchFamily="34" charset="0"/>
              <a:buNone/>
            </a:pPr>
            <a:r>
              <a:rPr lang="en-US" dirty="0"/>
              <a:t>Supports connection of multiple 4K displays for enhanced visual experience and productivity.</a:t>
            </a:r>
          </a:p>
          <a:p>
            <a:pPr marL="0" indent="0">
              <a:spcBef>
                <a:spcPts val="2500"/>
              </a:spcBef>
              <a:buFont typeface="Arial" panose="020B0604020202020204" pitchFamily="34" charset="0"/>
              <a:buNone/>
            </a:pPr>
            <a:r>
              <a:rPr lang="en-US" sz="2400" b="1" dirty="0"/>
              <a:t>PCIe 2.0 Support</a:t>
            </a:r>
          </a:p>
          <a:p>
            <a:pPr marL="0" lvl="1" indent="0">
              <a:buFont typeface="Arial" panose="020B0604020202020204" pitchFamily="34" charset="0"/>
              <a:buNone/>
            </a:pPr>
            <a:r>
              <a:rPr lang="en-US" dirty="0"/>
              <a:t>Provides high-speed expansion capabilities for graphics cards and other peripherals.</a:t>
            </a:r>
          </a:p>
          <a:p>
            <a:pPr marL="0" indent="0">
              <a:spcBef>
                <a:spcPts val="2500"/>
              </a:spcBef>
              <a:buFont typeface="Arial" panose="020B0604020202020204" pitchFamily="34" charset="0"/>
              <a:buNone/>
            </a:pPr>
            <a:r>
              <a:rPr lang="en-US" sz="2400" b="1" dirty="0"/>
              <a:t>USB 3.0 Connectivity</a:t>
            </a:r>
          </a:p>
          <a:p>
            <a:pPr marL="0" lvl="1" indent="0">
              <a:buFont typeface="Arial" panose="020B0604020202020204" pitchFamily="34" charset="0"/>
              <a:buNone/>
            </a:pPr>
            <a:r>
              <a:rPr lang="en-US" dirty="0"/>
              <a:t>Enables fast data transfer and connection with a wide range of USB peripherals.</a:t>
            </a:r>
          </a:p>
        </p:txBody>
      </p:sp>
    </p:spTree>
    <p:extLst>
      <p:ext uri="{BB962C8B-B14F-4D97-AF65-F5344CB8AC3E}">
        <p14:creationId xmlns:p14="http://schemas.microsoft.com/office/powerpoint/2010/main" val="61072402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49DEAB-0FC8-FEE9-AF9D-67993304EC24}"/>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sz="3600" b="1" kern="1200" dirty="0">
                <a:solidFill>
                  <a:schemeClr val="tx1"/>
                </a:solidFill>
                <a:latin typeface="+mj-lt"/>
                <a:ea typeface="+mj-ea"/>
                <a:cs typeface="+mj-cs"/>
              </a:rPr>
              <a:t>Applications in Edge Computing and Robotics</a:t>
            </a:r>
          </a:p>
        </p:txBody>
      </p:sp>
      <p:sp>
        <p:nvSpPr>
          <p:cNvPr id="4" name="Content Placeholder 3">
            <a:extLst>
              <a:ext uri="{FF2B5EF4-FFF2-40B4-BE49-F238E27FC236}">
                <a16:creationId xmlns:a16="http://schemas.microsoft.com/office/drawing/2014/main" id="{4E1A8CB5-0E98-6D1C-F6CF-BD39DD11127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fontScale="92500" lnSpcReduction="20000"/>
          </a:bodyPr>
          <a:lstStyle/>
          <a:p>
            <a:pPr marL="0" indent="0">
              <a:spcBef>
                <a:spcPts val="2500"/>
              </a:spcBef>
              <a:buFont typeface="Arial" panose="020B0604020202020204" pitchFamily="34" charset="0"/>
              <a:buNone/>
            </a:pPr>
            <a:r>
              <a:rPr lang="en-US" sz="2400" b="1" dirty="0"/>
              <a:t>Edge Computing Capabilities</a:t>
            </a:r>
          </a:p>
          <a:p>
            <a:pPr marL="0" lvl="1" indent="0">
              <a:buFont typeface="Arial" panose="020B0604020202020204" pitchFamily="34" charset="0"/>
              <a:buNone/>
            </a:pPr>
            <a:r>
              <a:rPr lang="en-US" dirty="0"/>
              <a:t>Raspberry Pi 5 supports real-time data processing at the edge, minimizing latency and enhancing efficiency.</a:t>
            </a:r>
          </a:p>
          <a:p>
            <a:pPr marL="0" indent="0">
              <a:spcBef>
                <a:spcPts val="2500"/>
              </a:spcBef>
              <a:buFont typeface="Arial" panose="020B0604020202020204" pitchFamily="34" charset="0"/>
              <a:buNone/>
            </a:pPr>
            <a:r>
              <a:rPr lang="en-US" sz="2400" b="1" dirty="0"/>
              <a:t>Robotics Control</a:t>
            </a:r>
          </a:p>
          <a:p>
            <a:pPr marL="0" lvl="1" indent="0">
              <a:buFont typeface="Arial" panose="020B0604020202020204" pitchFamily="34" charset="0"/>
              <a:buNone/>
            </a:pPr>
            <a:r>
              <a:rPr lang="en-US" dirty="0"/>
              <a:t>Its processing power enables autonomous robot control for both hobbyist and professional robotics projects.</a:t>
            </a:r>
          </a:p>
          <a:p>
            <a:pPr marL="0" indent="0">
              <a:spcBef>
                <a:spcPts val="2500"/>
              </a:spcBef>
              <a:buFont typeface="Arial" panose="020B0604020202020204" pitchFamily="34" charset="0"/>
              <a:buNone/>
            </a:pPr>
            <a:r>
              <a:rPr lang="en-US" sz="2400" b="1" dirty="0"/>
              <a:t>AI Image Recognition</a:t>
            </a:r>
          </a:p>
          <a:p>
            <a:pPr marL="0" lvl="1" indent="0">
              <a:buFont typeface="Arial" panose="020B0604020202020204" pitchFamily="34" charset="0"/>
              <a:buNone/>
            </a:pPr>
            <a:r>
              <a:rPr lang="en-US" dirty="0"/>
              <a:t>Supports AI-powered vision tasks such as image recognition with enhanced connectivity and computing power.</a:t>
            </a:r>
          </a:p>
        </p:txBody>
      </p:sp>
      <p:pic>
        <p:nvPicPr>
          <p:cNvPr id="5" name="Content Placeholder 4" descr="Close-up of circuit board">
            <a:extLst>
              <a:ext uri="{FF2B5EF4-FFF2-40B4-BE49-F238E27FC236}">
                <a16:creationId xmlns:a16="http://schemas.microsoft.com/office/drawing/2014/main" id="{3CFF5C84-87B9-47BB-88D8-B14AF9D96290}"/>
              </a:ext>
            </a:extLst>
          </p:cNvPr>
          <p:cNvPicPr>
            <a:picLocks noGrp="1" noChangeAspect="1"/>
          </p:cNvPicPr>
          <p:nvPr>
            <p:ph sz="half" idx="1"/>
          </p:nvPr>
        </p:nvPicPr>
        <p:blipFill>
          <a:blip r:embed="rId3"/>
          <a:srcRect l="47485" r="5344"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51644741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07AE8B-EF53-CE73-88DF-AD2BAD7A8F1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DE659A-2726-D91A-4C63-39ACB2010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B2F478-3E0C-F2D5-F365-DAE0963DB471}"/>
              </a:ext>
            </a:extLst>
          </p:cNvPr>
          <p:cNvSpPr>
            <a:spLocks noGrp="1"/>
          </p:cNvSpPr>
          <p:nvPr>
            <p:ph type="title"/>
          </p:nvPr>
        </p:nvSpPr>
        <p:spPr>
          <a:xfrm>
            <a:off x="5593078" y="921895"/>
            <a:ext cx="5916169" cy="626481"/>
          </a:xfrm>
        </p:spPr>
        <p:txBody>
          <a:bodyPr vert="horz" lIns="91440" tIns="45720" rIns="91440" bIns="45720" rtlCol="0" anchor="b">
            <a:normAutofit/>
          </a:bodyPr>
          <a:lstStyle/>
          <a:p>
            <a:r>
              <a:rPr lang="en-US" sz="3600" b="1" dirty="0"/>
              <a:t>Raspberry Pi 5 Robot HAT</a:t>
            </a:r>
            <a:endParaRPr lang="en-US" sz="3600" b="1" kern="1200" dirty="0">
              <a:solidFill>
                <a:schemeClr val="tx1"/>
              </a:solidFill>
              <a:latin typeface="+mj-lt"/>
              <a:ea typeface="+mj-ea"/>
              <a:cs typeface="+mj-cs"/>
            </a:endParaRPr>
          </a:p>
        </p:txBody>
      </p:sp>
      <p:pic>
        <p:nvPicPr>
          <p:cNvPr id="5" name="Content Placeholder 4">
            <a:extLst>
              <a:ext uri="{FF2B5EF4-FFF2-40B4-BE49-F238E27FC236}">
                <a16:creationId xmlns:a16="http://schemas.microsoft.com/office/drawing/2014/main" id="{E9C398ED-358A-31DC-4AC2-92C4BC444314}"/>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l="2267" r="2267"/>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5B7B2F60-B35E-A4A8-7AD9-C91E6DE3B4A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93079" y="1968100"/>
            <a:ext cx="5916169" cy="4470176"/>
          </a:xfrm>
        </p:spPr>
        <p:txBody>
          <a:bodyPr>
            <a:normAutofit/>
          </a:bodyPr>
          <a:lstStyle/>
          <a:p>
            <a:pPr marL="0" indent="0">
              <a:spcBef>
                <a:spcPts val="2500"/>
              </a:spcBef>
              <a:buNone/>
            </a:pPr>
            <a:r>
              <a:rPr lang="en-US" sz="3200" dirty="0"/>
              <a:t>The Robot HAT is an expansion board that transforms the Raspberry Pi 5 into a full-featured robotics controller. It adds motor drivers, sensor interfaces, and audio capabilities — ideal for building smart cars, robotic arms, or voice-controlled bots.</a:t>
            </a:r>
          </a:p>
          <a:p>
            <a:pPr marL="0" indent="0">
              <a:spcBef>
                <a:spcPts val="2500"/>
              </a:spcBef>
              <a:buNone/>
            </a:pPr>
            <a:endParaRPr lang="en-US" sz="3600" dirty="0"/>
          </a:p>
        </p:txBody>
      </p:sp>
    </p:spTree>
    <p:extLst>
      <p:ext uri="{BB962C8B-B14F-4D97-AF65-F5344CB8AC3E}">
        <p14:creationId xmlns:p14="http://schemas.microsoft.com/office/powerpoint/2010/main" val="51105964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5B385C-8F14-1872-0581-651BCE4D397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7F25CC-A901-A9A6-C39E-640536DF7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7968A9-1C30-BB93-CA18-34E34BCD2723}"/>
              </a:ext>
            </a:extLst>
          </p:cNvPr>
          <p:cNvSpPr>
            <a:spLocks noGrp="1"/>
          </p:cNvSpPr>
          <p:nvPr>
            <p:ph type="title"/>
          </p:nvPr>
        </p:nvSpPr>
        <p:spPr>
          <a:xfrm>
            <a:off x="5593078" y="921895"/>
            <a:ext cx="5916169" cy="626481"/>
          </a:xfrm>
        </p:spPr>
        <p:txBody>
          <a:bodyPr vert="horz" lIns="91440" tIns="45720" rIns="91440" bIns="45720" rtlCol="0" anchor="b">
            <a:normAutofit/>
          </a:bodyPr>
          <a:lstStyle/>
          <a:p>
            <a:r>
              <a:rPr lang="en-US" sz="3600" b="1" dirty="0"/>
              <a:t>Key features:</a:t>
            </a:r>
          </a:p>
        </p:txBody>
      </p:sp>
      <p:pic>
        <p:nvPicPr>
          <p:cNvPr id="5" name="Content Placeholder 4">
            <a:extLst>
              <a:ext uri="{FF2B5EF4-FFF2-40B4-BE49-F238E27FC236}">
                <a16:creationId xmlns:a16="http://schemas.microsoft.com/office/drawing/2014/main" id="{6D8D3405-E7A6-D338-6052-15B4A44915AD}"/>
              </a:ext>
            </a:extLst>
          </p:cNvPr>
          <p:cNvPicPr>
            <a:picLocks noGrp="1" noChangeAspect="1"/>
          </p:cNvPicPr>
          <p:nvPr>
            <p:ph sz="half"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6133" r="26133"/>
          <a:stretch/>
        </p:blipFill>
        <p:spPr>
          <a:xfrm>
            <a:off x="22" y="11"/>
            <a:ext cx="4910303" cy="6857983"/>
          </a:xfrm>
          <a:prstGeom prst="rect">
            <a:avLst/>
          </a:prstGeom>
        </p:spPr>
      </p:pic>
      <p:sp>
        <p:nvSpPr>
          <p:cNvPr id="3" name="TextBox 2">
            <a:extLst>
              <a:ext uri="{FF2B5EF4-FFF2-40B4-BE49-F238E27FC236}">
                <a16:creationId xmlns:a16="http://schemas.microsoft.com/office/drawing/2014/main" id="{125088BB-3124-E673-2122-F407D39B9589}"/>
              </a:ext>
            </a:extLst>
          </p:cNvPr>
          <p:cNvSpPr txBox="1"/>
          <p:nvPr/>
        </p:nvSpPr>
        <p:spPr>
          <a:xfrm>
            <a:off x="22" y="6858011"/>
            <a:ext cx="4910315" cy="230832"/>
          </a:xfrm>
          <a:prstGeom prst="rect">
            <a:avLst/>
          </a:prstGeom>
          <a:noFill/>
        </p:spPr>
        <p:txBody>
          <a:bodyPr wrap="square" rtlCol="0">
            <a:spAutoFit/>
          </a:bodyPr>
          <a:lstStyle/>
          <a:p>
            <a:r>
              <a:rPr lang="en-US" sz="900">
                <a:hlinkClick r:id="rId4" tooltip="https://cloud.eliwhitney.org/projects/2025/robotics"/>
              </a:rPr>
              <a:t>This Photo</a:t>
            </a:r>
            <a:r>
              <a:rPr lang="en-US" sz="900"/>
              <a:t> by Unknown Author is licensed under </a:t>
            </a:r>
            <a:r>
              <a:rPr lang="en-US" sz="900">
                <a:hlinkClick r:id="rId5" tooltip="https://creativecommons.org/licenses/by-nc-sa/3.0/"/>
              </a:rPr>
              <a:t>CC BY-SA-NC</a:t>
            </a:r>
            <a:endParaRPr lang="en-US" sz="900"/>
          </a:p>
        </p:txBody>
      </p:sp>
      <p:sp>
        <p:nvSpPr>
          <p:cNvPr id="14" name="TextBox 13">
            <a:extLst>
              <a:ext uri="{FF2B5EF4-FFF2-40B4-BE49-F238E27FC236}">
                <a16:creationId xmlns:a16="http://schemas.microsoft.com/office/drawing/2014/main" id="{8D2BDA2A-4F2C-AF5C-1B54-19F194C8D46A}"/>
              </a:ext>
            </a:extLst>
          </p:cNvPr>
          <p:cNvSpPr txBox="1"/>
          <p:nvPr/>
        </p:nvSpPr>
        <p:spPr>
          <a:xfrm>
            <a:off x="5741233" y="1798820"/>
            <a:ext cx="5768014" cy="4832092"/>
          </a:xfrm>
          <a:prstGeom prst="rect">
            <a:avLst/>
          </a:prstGeom>
          <a:noFill/>
        </p:spPr>
        <p:txBody>
          <a:bodyPr wrap="square" rtlCol="0">
            <a:spAutoFit/>
          </a:bodyPr>
          <a:lstStyle/>
          <a:p>
            <a:pPr marL="457200" indent="-457200">
              <a:buFont typeface="Arial" panose="020B0604020202020204" pitchFamily="34" charset="0"/>
              <a:buChar char="•"/>
            </a:pPr>
            <a:r>
              <a:rPr lang="en-US" sz="2800" dirty="0"/>
              <a:t>Controls up to </a:t>
            </a:r>
            <a:r>
              <a:rPr lang="en-US" sz="2800" b="1" dirty="0"/>
              <a:t>4 DC motors</a:t>
            </a:r>
            <a:r>
              <a:rPr lang="en-US" sz="2800" dirty="0"/>
              <a:t> and </a:t>
            </a:r>
            <a:r>
              <a:rPr lang="en-US" sz="2800" b="1" dirty="0"/>
              <a:t>16 servo motors</a:t>
            </a:r>
            <a:endParaRPr lang="en-US" sz="2800" dirty="0"/>
          </a:p>
          <a:p>
            <a:pPr marL="457200" indent="-457200">
              <a:buFont typeface="Arial" panose="020B0604020202020204" pitchFamily="34" charset="0"/>
              <a:buChar char="•"/>
            </a:pPr>
            <a:r>
              <a:rPr lang="en-US" sz="2800" dirty="0"/>
              <a:t>Supports </a:t>
            </a:r>
            <a:r>
              <a:rPr lang="en-US" sz="2800" b="1" dirty="0"/>
              <a:t>ultrasonic</a:t>
            </a:r>
            <a:r>
              <a:rPr lang="en-US" sz="2800" dirty="0"/>
              <a:t>, </a:t>
            </a:r>
            <a:r>
              <a:rPr lang="en-US" sz="2800" b="1" dirty="0"/>
              <a:t>IR</a:t>
            </a:r>
            <a:r>
              <a:rPr lang="en-US" sz="2800" dirty="0"/>
              <a:t>, and </a:t>
            </a:r>
            <a:r>
              <a:rPr lang="en-US" sz="2800" b="1" dirty="0"/>
              <a:t>line-tracking sensors</a:t>
            </a:r>
            <a:endParaRPr lang="en-US" sz="2800" dirty="0"/>
          </a:p>
          <a:p>
            <a:pPr marL="457200" indent="-457200">
              <a:buFont typeface="Arial" panose="020B0604020202020204" pitchFamily="34" charset="0"/>
              <a:buChar char="•"/>
            </a:pPr>
            <a:r>
              <a:rPr lang="en-US" sz="2800" dirty="0"/>
              <a:t>Includes </a:t>
            </a:r>
            <a:r>
              <a:rPr lang="en-US" sz="2800" b="1" dirty="0"/>
              <a:t>PWM</a:t>
            </a:r>
            <a:r>
              <a:rPr lang="en-US" sz="2800" dirty="0"/>
              <a:t>, </a:t>
            </a:r>
            <a:r>
              <a:rPr lang="en-US" sz="2800" b="1" dirty="0"/>
              <a:t>ADC</a:t>
            </a:r>
            <a:r>
              <a:rPr lang="en-US" sz="2800" dirty="0"/>
              <a:t>, </a:t>
            </a:r>
            <a:r>
              <a:rPr lang="en-US" sz="2800" b="1" dirty="0"/>
              <a:t>I2C</a:t>
            </a:r>
            <a:r>
              <a:rPr lang="en-US" sz="2800" dirty="0"/>
              <a:t>, </a:t>
            </a:r>
            <a:r>
              <a:rPr lang="en-US" sz="2800" b="1" dirty="0"/>
              <a:t>UART</a:t>
            </a:r>
            <a:r>
              <a:rPr lang="en-US" sz="2800" dirty="0"/>
              <a:t>, and </a:t>
            </a:r>
            <a:r>
              <a:rPr lang="en-US" sz="2800" b="1" dirty="0"/>
              <a:t>SPI</a:t>
            </a:r>
            <a:r>
              <a:rPr lang="en-US" sz="2800" dirty="0"/>
              <a:t> interfaces</a:t>
            </a:r>
          </a:p>
          <a:p>
            <a:pPr marL="457200" indent="-457200">
              <a:buFont typeface="Arial" panose="020B0604020202020204" pitchFamily="34" charset="0"/>
              <a:buChar char="•"/>
            </a:pPr>
            <a:r>
              <a:rPr lang="en-US" sz="2800" dirty="0"/>
              <a:t>Built-in </a:t>
            </a:r>
            <a:r>
              <a:rPr lang="en-US" sz="2800" b="1" dirty="0"/>
              <a:t>microphone</a:t>
            </a:r>
            <a:r>
              <a:rPr lang="en-US" sz="2800" dirty="0"/>
              <a:t>, </a:t>
            </a:r>
            <a:r>
              <a:rPr lang="en-US" sz="2800" b="1" dirty="0"/>
              <a:t>speaker</a:t>
            </a:r>
            <a:r>
              <a:rPr lang="en-US" sz="2800" dirty="0"/>
              <a:t>, and </a:t>
            </a:r>
            <a:r>
              <a:rPr lang="en-US" sz="2800" b="1" dirty="0"/>
              <a:t>voice interaction support</a:t>
            </a:r>
            <a:endParaRPr lang="en-US" sz="2800" dirty="0"/>
          </a:p>
          <a:p>
            <a:pPr marL="457200" indent="-457200">
              <a:buFont typeface="Arial" panose="020B0604020202020204" pitchFamily="34" charset="0"/>
              <a:buChar char="•"/>
            </a:pPr>
            <a:r>
              <a:rPr lang="en-US" sz="2800" dirty="0"/>
              <a:t>Compatible with Raspberry Pi 5, 4, 3B+, and Zero W</a:t>
            </a:r>
          </a:p>
          <a:p>
            <a:pPr marL="457200"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3290458512"/>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810</Words>
  <Application>Microsoft Office PowerPoint</Application>
  <PresentationFormat>Widescreen</PresentationFormat>
  <Paragraphs>57</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Raspberry Pi 5 Overview (Released October 2023) </vt:lpstr>
      <vt:lpstr>Key Hardware Features of Raspberry Pi 5</vt:lpstr>
      <vt:lpstr>Connectivity and Expansion Options</vt:lpstr>
      <vt:lpstr>Applications in Edge Computing and Robotics</vt:lpstr>
      <vt:lpstr>Raspberry Pi 5 Robot HAT</vt:lpstr>
      <vt:lpstr>Key features: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aimaayaz252006@gmail.com</dc:creator>
  <cp:lastModifiedBy>aimaayaz252006@gmail.com</cp:lastModifiedBy>
  <cp:revision>1</cp:revision>
  <dcterms:created xsi:type="dcterms:W3CDTF">2025-10-13T20:23:27Z</dcterms:created>
  <dcterms:modified xsi:type="dcterms:W3CDTF">2025-10-13T23:33:18Z</dcterms:modified>
</cp:coreProperties>
</file>